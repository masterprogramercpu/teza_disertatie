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74519"/>
            <a:ext cx="12191695" cy="7315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Universitatea Națională de Știință și Tehnologie POLITEHNICA București</a:t>
            </a:r>
          </a:p>
          <a:p>
            <a:r>
              <a:rPr sz="1300" b="0" i="0">
                <a:solidFill>
                  <a:srgbClr val="CFE6EE"/>
                </a:solidFill>
                <a:latin typeface="Calibri"/>
              </a:rPr>
              <a:t>Facultatea de Electronică, Telecomunicații și Tehnologia Informației</a:t>
            </a:r>
          </a:p>
          <a:p>
            <a:r>
              <a:rPr sz="1200" b="0" i="1">
                <a:solidFill>
                  <a:srgbClr val="BFDDE6"/>
                </a:solidFill>
                <a:latin typeface="Calibri"/>
              </a:rPr>
              <a:t>Programul de master: Ingineria Informației și Sisteme de Calcul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000" b="1" i="0">
                <a:solidFill>
                  <a:srgbClr val="124A63"/>
                </a:solidFill>
                <a:latin typeface="Calibri"/>
              </a:rPr>
              <a:t>Sisteme e-medicine de gestionare și monitorizare a datelor epidemiologice</a:t>
            </a:r>
          </a:p>
          <a:p>
            <a:pPr>
              <a:spcBef>
                <a:spcPts val="1000"/>
              </a:spcBef>
            </a:pPr>
            <a:r>
              <a:rPr sz="1700" b="0" i="1">
                <a:solidFill>
                  <a:srgbClr val="1E88A8"/>
                </a:solidFill>
                <a:latin typeface="Calibri"/>
              </a:rPr>
              <a:t>Lucrare de disertație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500" b="1" i="0">
                <a:solidFill>
                  <a:srgbClr val="6B767C"/>
                </a:solidFill>
                <a:latin typeface="Calibri"/>
              </a:rPr>
              <a:t>Absolvent:  </a:t>
            </a:r>
            <a:r>
              <a:rPr sz="1500" b="1" i="0">
                <a:solidFill>
                  <a:srgbClr val="232A2E"/>
                </a:solidFill>
                <a:latin typeface="Calibri"/>
              </a:rPr>
              <a:t>Geană Tudor-Bogdan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6B767C"/>
                </a:solidFill>
                <a:latin typeface="Calibri"/>
              </a:rPr>
              <a:t>Coordonator științific:  </a:t>
            </a:r>
            <a:r>
              <a:rPr sz="1500" b="1" i="0">
                <a:solidFill>
                  <a:srgbClr val="232A2E"/>
                </a:solidFill>
                <a:latin typeface="Calibri"/>
              </a:rPr>
              <a:t>Prof. Radu Rădescu</a:t>
            </a:r>
          </a:p>
          <a:p>
            <a:pPr>
              <a:spcBef>
                <a:spcPts val="1000"/>
              </a:spcBef>
            </a:pPr>
            <a:r>
              <a:rPr sz="1300" b="0" i="1">
                <a:solidFill>
                  <a:srgbClr val="6B767C"/>
                </a:solidFill>
                <a:latin typeface="Calibri"/>
              </a:rPr>
              <a:t>București, Iunie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Introducere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Context și motivație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Bolile infecțioase sunt un proces populațional, nu doar clinic — pandemiile din 1918, SARS 2003 și COVID-19 o confirmă.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Modelele compartimentale oferă un limbaj matematic riguros (SIR, Kermack–McKendrick, 1927) pentru dinamica transmiterii.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Problema reală nu se oprește la ecuații: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datele epidemiologice sunt eterogene, cu goluri și corecții administrative;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alegerea limbajului de implementare (R / Julia / Python) influențează timpul, memoria, integrarea și reproductibilitatea.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Nevoie: un sistem care leagă explicit modelarea matematică de implementarea software, într-un cadru reproductibil.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Introducere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Obiective și contribuții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O1 — Sistem care leagă modelarea de software: SIDARTHE ca model clinic principal; SIR / SIS / SEIR / SIRS ca repere.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O2 — Același contract de simulare în R, Julia și Python, cu comparație de cost (timp, CPU, memorie, integrare DB).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O3 — Metodologie explicită de comparație și calibrare: operatori de observație, MAE / RMSE, separare antrenare/test.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O4 — Extensie predictivă bazată pe LSTM pentru prognoză pe termen scurt.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4572000"/>
            <a:ext cx="11018520" cy="15544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Contribuție arhitecturală: sistem de plug-in-uri pentru algoritmi (script Python sau imagine container → Deployment K8s automat).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Contribuție empirică: benchmarking comparativ cross-limbaj al aceluiași model, integrat într-o platformă web colaborativă.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Fundamente teoretice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Modele compartimentale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548640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Populația e împărțită în compartimente (stări epidemiologice); tranzițiile sunt ecuații diferențiale.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Familia de bază: SIS, SIR, SEIR, SIRS — repere matematice și de regresie numerică.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Prag epidemic prin numărul de reproducere de bază: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2000" b="1" i="0">
                <a:solidFill>
                  <a:srgbClr val="124A63"/>
                </a:solidFill>
                <a:latin typeface="Calibri"/>
              </a:rPr>
              <a:t>R₀ = β / γ      (epidemie dacă R₀ &gt;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80560"/>
            <a:ext cx="548640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Proprietăți demonstrate pentru SIR: existență/unicitate, conservarea populației, pozitivitate, dimensiunea finală a epidemiei.</a:t>
            </a:r>
          </a:p>
        </p:txBody>
      </p:sp>
      <p:pic>
        <p:nvPicPr>
          <p:cNvPr id="8" name="Picture 7" descr="si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001408"/>
            <a:ext cx="5394960" cy="763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61772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6B767C"/>
                </a:solidFill>
                <a:latin typeface="Calibri"/>
              </a:rPr>
              <a:t>Fluxul compartimentelor modelului SIR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Model clinic principal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Modelul SIDARTHE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8 compartimente: S, I, D, A, R, T, H, E — și 16 rate de tranziție.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Separă dimensiuni absente din SIR: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44C50"/>
                </a:solidFill>
                <a:latin typeface="Calibri"/>
              </a:rPr>
              <a:t>infectați nedepistați (I) vs. diagnosticați (D, R);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44C50"/>
                </a:solidFill>
                <a:latin typeface="Calibri"/>
              </a:rPr>
              <a:t>forme simptomatice (A) vs. severe (T);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44C50"/>
                </a:solidFill>
                <a:latin typeface="Calibri"/>
              </a:rPr>
              <a:t>vindecări (H) vs. decese (E), tratate explicit.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Mai apropiat de structura reală a raportării (testare, diagnostic, severitate).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Conservarea populației și pozitivitatea soluției — demonstrate analitic.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Cost: mai mulți parametri ⇒ calibrare mai dificilă (compromis interpretabilitate ↔ identificabilitate).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Proiectare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Arhitectura sistemului</a:t>
            </a:r>
          </a:p>
        </p:txBody>
      </p:sp>
      <p:pic>
        <p:nvPicPr>
          <p:cNvPr id="5" name="Picture 4" descr="arh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7226"/>
            <a:ext cx="7680960" cy="4955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463040"/>
            <a:ext cx="35661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API Go: REST, JWT, RBAC pe studii.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Redis: coadă de job-uri (decuplare).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3 runnere: R / Julia / Python.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YugabyteDB: SQL distribuit, RF = 3.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2 interfețe Vue.js: cercetători + super-admin.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Flux complet de simulare, asincron.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Implementare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Trei limbaje, un contract comun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Același contract de simulare în trei ecosisteme, cu biblioteca uzuală a fiecăruia: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R — deSolve (RK4, pas fix h = 1);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Julia — DifferentialEquations.jl (Tsit5, adaptiv);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Python — SciPy solve_ivp (RK45, adaptiv).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Comunică prin același mesaj Redis și scriu în aceeași schemă de rezultate (JSONB compartments).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Sunt interschimbabile și evaluate în condiții identice — comparație între ecosisteme, nu doar sintaxe.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Aceeași disciplină de colectare a metricilor (wall-time, CPU, memorie) pentru fiecare rulare.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Extensie predictivă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Predicție epidemiologică cu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Celulă LSTM implementată manual în NumPy (3 porți, BPTT, coborâre pe gradient stochastic cu clipping).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Univariată și independentă de modelele compartimentale; rulată de un runner dedicat, izolat.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Validare ONESTĂ față de repere triviale, pe seria României: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persistența domină LSTM la orizontul de 1 zi (MAE 251 vs. 755);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85% din zilele de test sunt plate (raportare săptămânală OWID).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Concluzie: rol delimitat la prognoză pe termen scurt și corecție de reziduuri, nu înlocuitor al modelelor.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Metodologie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Comparație și calibrare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Operator de observație g_m(x): transformă starea internă a modelului în mărimi comparabile cu datele.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Metrici de eroare pe ferestre separate de antrenare și test: MAE, RMSE, nRMSE.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Calibrarea = problemă de optimizare pe parametri (Nelder–Mead, restartări multiple).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Separare deliberată a două planuri: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comparația epidemiologică (structură, ipoteze, acuratețe);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comparația software (timp, memorie, cost de integrare).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Costul software al calibrării este măsurat și raportat alături de eroarea numerică.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Rezultate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Calibrare pe date reale</a:t>
            </a:r>
          </a:p>
        </p:txBody>
      </p:sp>
      <p:pic>
        <p:nvPicPr>
          <p:cNvPr id="5" name="Picture 4" descr="calibration_multi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50" y="1280160"/>
            <a:ext cx="69056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554480"/>
            <a:ext cx="36576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32A2E"/>
                </a:solidFill>
                <a:latin typeface="Calibri"/>
              </a:rPr>
              <a:t>SIR cu γ = 1/14 pe valul 1 COVID-19, patru țări europene.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32A2E"/>
                </a:solidFill>
                <a:latin typeface="Calibri"/>
              </a:rPr>
              <a:t>R₀ estimat între 0,94 (Italia) și 1,45 (România).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32A2E"/>
                </a:solidFill>
                <a:latin typeface="Calibri"/>
              </a:rPr>
              <a:t>Valori sub intervalul de literatură (2–3): intervenții deja active.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32A2E"/>
                </a:solidFill>
                <a:latin typeface="Calibri"/>
              </a:rPr>
              <a:t>Identifiabilitate practică slabă: date insuficiente disting combinații (β, γ).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Evaluare — campanie reală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Rezultate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0" i="0">
                <a:solidFill>
                  <a:srgbClr val="232A2E"/>
                </a:solidFill>
                <a:latin typeface="Calibri"/>
              </a:rPr>
              <a:t>180 rulări ODE + 4 LSTM, fără eșecuri, pe cluster Kubernetes — trei regimuri de cost distincte: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965960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651760"/>
                <a:gridCol w="2286000"/>
                <a:gridCol w="1463040"/>
                <a:gridCol w="333756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Limbaj</a:t>
                      </a:r>
                    </a:p>
                  </a:txBody>
                  <a:tcPr>
                    <a:solidFill>
                      <a:srgbClr val="124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Solver</a:t>
                      </a:r>
                    </a:p>
                  </a:txBody>
                  <a:tcPr>
                    <a:solidFill>
                      <a:srgbClr val="124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Wall-time @ t_max=10k</a:t>
                      </a:r>
                    </a:p>
                  </a:txBody>
                  <a:tcPr>
                    <a:solidFill>
                      <a:srgbClr val="124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Memorie</a:t>
                      </a:r>
                    </a:p>
                  </a:txBody>
                  <a:tcPr>
                    <a:solidFill>
                      <a:srgbClr val="124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Caracteristică</a:t>
                      </a:r>
                    </a:p>
                  </a:txBody>
                  <a:tcPr>
                    <a:solidFill>
                      <a:srgbClr val="124A6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4A63"/>
                          </a:solidFill>
                          <a:latin typeface="Calibri"/>
                        </a:rPr>
                        <a:t>Julia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DiffEq.jl (Tsit5)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5–6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~940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cel mai rapid, dar cold-start JIT ~1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4A63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SciPy solve_ivp (RK45)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4–9 ms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&lt;100 MB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cel mai stabil, fără cold-start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4A63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deSolve (RK4)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665–1327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&lt;135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32A2E"/>
                          </a:solidFill>
                          <a:latin typeface="Calibri"/>
                        </a:rPr>
                        <a:t>lent la orizonturi mari (inserții DB, nu solverul)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572000"/>
            <a:ext cx="1101852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Costul R nu vine de la deSolve, ci de la inserările rând-cu-rând în baza de date (punct de optimizare cunoscut).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Decizia practică: Python ca implicit interactiv; Julia pentru orizonturi lungi / calibrare (JIT amortizat).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Evaluare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Scalare și acuratețe numerică</a:t>
            </a:r>
          </a:p>
        </p:txBody>
      </p:sp>
      <p:pic>
        <p:nvPicPr>
          <p:cNvPr id="5" name="Picture 4" descr="scaling_wall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90218"/>
            <a:ext cx="7040880" cy="29176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554480"/>
            <a:ext cx="420624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Scalare wall-time vs. t_max (SIDARTHE): trei regimuri vizibile pe scară log-log.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Verificare de regresie cross-limbaj: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300" b="0" i="0">
                <a:solidFill>
                  <a:srgbClr val="444C50"/>
                </a:solidFill>
                <a:latin typeface="Calibri"/>
              </a:rPr>
              <a:t>Julia ≈ Python la ~10⁻⁸·N (limita flotantă);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300" b="0" i="0">
                <a:solidFill>
                  <a:srgbClr val="444C50"/>
                </a:solidFill>
                <a:latin typeface="Calibri"/>
              </a:rPr>
              <a:t>R deviază cu ~10⁻⁴·N (0,013% din populație) — RK4 cu pas fix.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32A2E"/>
                </a:solidFill>
                <a:latin typeface="Calibri"/>
              </a:rPr>
              <a:t>Implementări compatibile funcțional, cu o limită cantitativă explicită a interschimbabilității.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Sistem colaborativ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Aplicația web E-Medicine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Două interfețe Vue 3 separate: aplicația cercetătorilor și consola super-admin.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Control acces bazat pe roluri (RBAC) la nivel de studiu: admin / researcher / contributor / viewer + super-admin.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Flux end-to-end: creare studiu → roluri → încărcare dataset → alegere model → execuție asincronă → vizualizare traiectorii.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Securitate ca cerință funcțională: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JWT (HS256, anti alg-confusion), parole bcrypt (cost 12);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izolare anti-IDOR pe studiu, SQL 100% parametrizat, upload plafonat.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Extensibilitate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Contribuție: sistem de plug-in-uri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Un super-admin poate înregistra într-un studiu: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un script Python (rulat de un container generic partajat), sau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o referință către o imagine container construită extern, în orice limbaj.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API-ul provisionează automat un Deployment Kubernetes dedicat pentru runner-ul plug-in.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Editor de cod în interfață (Monaco, ca VS Code): cercetătorul scrie și rulează algoritmi ad-hoc end-to-end, fără a construi imagini.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Efect: sistemul se deschide de la 5 modele + LSTM la ORICE algoritm care respectă un contract minimal de I/O — fără modificări la API sau la schema bazei de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Infrastructură reală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Deployment pe Kubernetes</a:t>
            </a:r>
          </a:p>
        </p:txBody>
      </p:sp>
      <p:pic>
        <p:nvPicPr>
          <p:cNvPr id="5" name="Picture 4" descr="k8s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0644"/>
            <a:ext cx="7498079" cy="4796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1554480"/>
            <a:ext cx="37947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32A2E"/>
                </a:solidFill>
                <a:latin typeface="Calibri"/>
              </a:rPr>
              <a:t>Cluster real kube-4kdhb: 3 noduri control-plane + 3 worker (OpenStack).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32A2E"/>
                </a:solidFill>
                <a:latin typeface="Calibri"/>
              </a:rPr>
              <a:t>YugabyteDB cu factor de replicare 3, gestionat prin Helm.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32A2E"/>
                </a:solidFill>
                <a:latin typeface="Calibri"/>
              </a:rPr>
              <a:t>Imagini construite pentru linux/amd64, publicate pe GHCR.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400" b="0" i="0">
                <a:solidFill>
                  <a:srgbClr val="232A2E"/>
                </a:solidFill>
                <a:latin typeface="Calibri"/>
              </a:rPr>
              <a:t>Confirmă portabilitatea arhitecturii într-un mediu distribuit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Sinteză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Concluzii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Sistem complet care leagă modelarea matematică (SIDARTHE + familia SIR) de o implementare software funcțională.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Cele patru obiective au fost atinse și validate empiric: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același contract de simulare în R / Julia / Python, verificat numeric;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campanie reală de benchmark (180 ODE + 4 LSTM) pe cluster Kubernetes;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calibrare SIR pe date reale, cross-regiune, cu analiză de identifiabilitate;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6B767C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444C50"/>
                </a:solidFill>
                <a:latin typeface="Calibri"/>
              </a:rPr>
              <a:t>componentă LSTM evaluată onest față de repere triviale.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32A2E"/>
                </a:solidFill>
                <a:latin typeface="Calibri"/>
              </a:rPr>
              <a:t>Contribuție distinctă: benchmarking cross-limbaj + platformă web cu RBAC + sistem de plug-in-uri extensibil.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292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BFDDE6"/>
                </a:solidFill>
                <a:latin typeface="Calibri"/>
              </a:rPr>
              <a:t>Perspective</a:t>
            </a:r>
          </a:p>
          <a:p>
            <a:r>
              <a:rPr sz="2700" b="1" i="0">
                <a:solidFill>
                  <a:srgbClr val="FFFFFF"/>
                </a:solidFill>
                <a:latin typeface="Calibri"/>
              </a:rPr>
              <a:t>Limitări și direcții viitoare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Calibrarea SIDARTHE pe date mai bogate (testare, spitalizare, terapie intensivă) cu operatori de observație multipli.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Promovarea calibrării într-un job asincron în aplicație; varianta hibridă LSTM peste reziduuri.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Extinderea campaniei de benchmark pe alte profile hardware (inclusiv GPU pentru LSTM).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88A8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32A2E"/>
                </a:solidFill>
                <a:latin typeface="Calibri"/>
              </a:rPr>
              <a:t>Suită de teste automate end-to-end, rate limiting, autoscalare (HPA) și observabilitate.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4434840"/>
            <a:ext cx="11018520" cy="1600200"/>
          </a:xfrm>
          <a:prstGeom prst="rect">
            <a:avLst/>
          </a:prstGeom>
          <a:solidFill>
            <a:srgbClr val="12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434840"/>
            <a:ext cx="11018520" cy="1600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Vă mulțumesc!  Întrebări?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CFE6EE"/>
                </a:solidFill>
                <a:latin typeface="Calibri"/>
              </a:rPr>
              <a:t>Geană Tudor-Bogdan  ·  Coordonator: Prof. Radu Rădescu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B767C"/>
                </a:solidFill>
                <a:latin typeface="Calibri"/>
              </a:rPr>
              <a:t>Sisteme e-medicine pentru date epidemiologice  ·  Geană Tudor-Bogdan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6B767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