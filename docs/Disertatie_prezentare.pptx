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Bună ziua. Mă numesc Geană Tudor-Bogdan și vă voi prezenta lucrarea mea de disertație, intitulată „Sisteme e-medicine de gestionare și monitorizare a datelor epidemiologice”, realizată sub coordonarea domnului profesor Radu Rădescu. Pe scurt, lucrarea pornește de la o întrebare practică: cum putem trece de la ecuațiile matematice ale unei epidemii la un sistem software real, distribuit, care să le ruleze, să le compare și să le facă utilizabile. În continuare voi parcurge motivația, modelele folosite, arhitectura sistemului, rezultatele experimentale și, la final, contribuțiile mele originale.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Pornesc de la o observație simplă, dar importantă: bolile infecțioase nu sunt doar un fenomen clinic, ci unul populațional. Felul în care se răspândește un agent patogen depinde de contacte, de mobilitate, de modul de raportare și de capacitatea de răspuns a sistemului sanitar. Pandemiile recente — gripa din 1918, SARS-ul din 2003, COVID-19 — au arătat asta foarte clar. Modelele compartimentale, începând cu modelul SIR formulat de Kermack și McKendrick în 1927, ne oferă un limbaj matematic riguros pentru a descrie această dinamică prin ecuații diferențiale. Însă în practica reală problema nu se oprește la scrierea ecuațiilor. Datele epidemiologice vin din surse eterogene, au goluri și corecții administrative. Iar implementarea numerică poate fi făcută în limbaje diferite — R, Julia, Python — fiecare cu costuri proprii de timp, de memorie și de reproductibilitate. De aceea, ideea centrală a lucrării este să leg explicit partea de modelare matematică de partea de implementare software, într-un cadru unitar și reproductibil.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Pornind de aici, lucrarea are patru obiective. Primul, și cel principal, este proiectarea unui sistem care folosește modelul clinic SIDARTHE ca model de lucru principal, păstrând familia clasică SIR, SIS, SEIR și SIRS ca repere de comparație. Al doilea obiectiv este implementarea exact a aceluiași contract de simulare în trei limbaje — R, Julia și Python — folosind biblioteca uzuală a fiecăruia, ca să pot face o comparație corectă, nu doar de sintaxă, ci de cost real de execuție. Al treilea obiectiv este definirea unei metodologii explicite de comparație și calibrare: nu evaluez modelele doar vizual, ci prin metrici de eroare și prin separarea ferestrei de antrenare de cea de test. Iar al patrulea obiectiv este integrarea unei extensii predictive bazate pe rețele neuronale LSTM, pentru prognoza pe termen scurt.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Înainte de a trece la sistem, fundamentul teoretic, foarte concentrat. Ideea modelelor compartimentale este să împărțim populația în câteva stări epidemiologice relevante — la SIR avem susceptibili, infectați și recuperați — și să descriem trecerea dintre ele printr-un sistem de ecuații diferențiale ordinare. Parametrul cel mai important al întregii epidemiologii matematice este numărul de reproducere de bază, R-zero, care la modelul SIR este egal cu raportul beta supra gama. Interpretarea lui e directă: dacă R-zero este supraunitar, fiecare infectat produce în medie mai mult de un caz nou și avem epidemie; dacă este subunitar, epidemia se stinge spontan. În lucrare nu am tratat SIR doar descriptiv — am demonstrat riguros proprietățile lui fundamentale: existența și unicitatea soluției, conservarea populației totale, pozitivitatea soluției, și am dedus inclusiv ecuația dimensiunii finale a epidemiei, adică ce fracție din populație ajunge să fie infectată până la final.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Aceasta este diagrama de flux a modelului SIR, cea mai simplă din lucrare. Se citește de la stânga la dreapta: susceptibilii trec în infectați cu rata beta-S-I-pe-N, care reprezintă noile infecții produse prin contact, iar infectații trec apoi în recuperați cu rata gama, unde unu-supra-gama este durata medie a perioadei infecțioase. Vreau să rețineți această structură, pentru că toate celelalte modele din lucrare, inclusiv SIDARTHE, sunt extensii ale ei.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Modelul principal al lucrării este însă SIDARTHE, propus pentru analiza COVID-19, cu opt compartimente și șaisprezece rate de tranziție. Avantajul lui față de SIR este că separă două dimensiuni care lipsesc complet din modelele simple: statutul de diagnosticare și severitatea clinică. Concret, separă infectații nedepistați de cei diagnosticați, formele ușoare de cele severe, și — foarte important — separă vindecările de decese, tratând mortalitatea explicit, ca un compartiment distinct. Asta îl face mult mai apropiat de structura reală a raportării epidemiologice, unde testarea, diagnosticul și severitatea schimbă puternic ceea ce observăm. Costul acestei bogății este că avem mai mulți parametri, deci calibrarea devine mai dificilă — și voi reveni la acest aspect. La fel ca la SIR, am verificat și pentru SIDARTHE proprietățile matematice esențiale: conservarea populației, prin însumarea ecuațiilor, și pozitivitatea soluției.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Trecem acum la sistemul propriu-zis. Aceasta este arhitectura globală, organizată pe straturi. Sus, utilizatorul accesează totul printr-un browser, prin HTTPS. Cererea ajunge la un ingress Nginx, care joacă rol de gateway și rutează către cele două interfețe Vue.js — una pentru cercetători, una pentru administratori — și către API-ul backend scris în Go. Punctul-cheie al fluxului este decuplarea: API-ul nu rulează simularea direct, ci publică un job într-o coadă Redis. De acolo, cele trei runnere — R, Julia și Python — preiau joburile, fiecare de pe coada lui, execută solverul și scriu rezultatele în baza de date distribuită YugabyteDB, replicată pe trei noduri pentru disponibilitate. Avantajul acestei arhitecturi este că totul rulează asincron: utilizatorul lansează o simulare, primește imediat un identificator, iar interfața interoghează periodic statusul până când rezultatul e gata. Asta permite și rularea mai multor simulări în paralel.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Să detaliez puțin cele trei runnere, pentru că aici se află una dintre contribuțiile centrale. Toate trei implementează exact același contract de simulare, dar fiecare folosește biblioteca consacrată a ecosistemului său: deSolve în R, cu metoda Runge-Kutta de ordin 4; DifferentialEquations.jl în Julia, cu solverul Tsit5, adaptiv; și SciPy în Python, cu RK45, tot adaptiv. Esențialul este că, deși algoritmii numerici diferă ușor, toate trei comunică prin același format de mesaj Redis și scriu în aceeași schemă de rezultate, un obiect JSONB cu compartimentele. Asta le face complet interschimbabile din punctul de vedere al sistemului. Iar pentru mine, ca cercetător, este exact ce trebuie: pot rula același model, pe aceleași date, în trei ecosisteme diferite, și pot măsura corect diferențele de cost, fără ca rezultatele să fie distorsionate de diferențe de infrastructură.</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 lângă modelele compartimentale, care sunt interpretabile, am adăugat o componentă complet diferită ca natură: o rețea neuronală LSTM, pentru predicție pe serii temporale. Am implementat-o manual, în NumPy, fără bibliotecă de învățare automată, tocmai ca fiecare ecuație — porțile, propagarea înapoi în timp — să fie vizibilă și verificabilă în cod. Dar partea pe care vreau să o subliniez este onestitatea evaluării. O rețea trebuie întotdeauna comparată cu repere simple, altfel o eroare mică pare performanță. Am comparat-o cu persistența — adică predicția „mâine va fi ca azi”. Și rezultatul, pe seria României, este că persistența bate de fapt rețeaua LSTM la orizontul de o zi. Motivul nu este un defect de antrenare, ci o proprietate a datelor: 85% din zilele de test sunt identice cu ziua precedentă, din cauza raportării săptămânale din sursa OWID. Concluzia mea, asumată în lucrare, este că LSTM-ul are valoare doar ca prognoză pe termen scurt sau ca corecție de reziduuri, nu ca înlocuitor al modelelor epidemiologice interpretabile.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 această figură se vede concret comportamentul, pe seria de cazuri active din România. Linia neagră este seria observată reală. Predicțiile o-zi-înainte, cele pe care rețeaua le face cunoscând trecutul, urmăresc destul de bine seria, atât pe fereastra de antrenare cât și pe cea de test. În schimb, prognoza autoregresivă, în care rețeaua își reintroduce propriile ieșiri pentru a prezice tot mai departe, se aplatizează rapid către zero. Este o limitare cunoscută a LSTM-urilor compacte univariate, care nu au mecanisme explicite pentru tendințe și sezonalitate pe termen lung.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Acum, metodologia de comparație și calibrare, care a fost al treilea obiectiv. Prima problemă este că datele reale nu conțin toate compartimentele modelului. De aceea folosesc un operator de observație, o funcție care transformă starea internă a modelului într-o mărime direct comparabilă cu datele — de exemplu cazurile active observate. Apoi măsor eroarea cu trei metrici: eroarea medie absolută MAE, eroarea pătratică medie RMSE, și varianta normalizată nRMSE, ca să pot compara regiuni cu populații diferite. Foarte important, calculez eroarea separat pe fereastra de antrenare și pe cea de test, ca să măsor capacitatea reală de generalizare, nu doar potrivirea pe trecut. Calibrarea propriu-zisă o formulez ca o problemă de optimizare a parametrilor, rezolvată cu metoda Nelder-Mead, cu mai multe restartări. Și separ deliberat două planuri de analiză: comparația epidemiologică, de fond, și comparația software, de cost — pentru că un model cu eroare mai mică nu este automat mai bun, dacă o obține cu mult mai mulți parametri neobservabili.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 aplicat această procedură concret, nu doar teoretic. Figura arată calibrarea modelului SIR pe valul 1 al pandemiei COVID-19, în patru țări europene — România, Italia, Germania și Spania — cu gama fixat la valoarea din literatura clinică, de unu supra paisprezece zile. Pentru fiecare țară se văd seria observată, fitul pe fereastra de antrenare și prognoza pe luna următoare. R-zero estimat variază între 0,94 la Italia și 1,45 la România. Toate valorile sunt sub intervalul clasic din literatură, de 2 până la 3, ceea ce este consistent cu faptul că intervențiile non-farmaceutice erau deja active în acea fereastră. Observați că la Spania prognoza pe test diverge mai mult — dar asta vine din pornirea valului 2 la finalul ferestrei de test, deci este o limitare structurală a modelului SIR cu coeficienți constanți, nu o eroare de calibrare.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Trecem la partea de evaluare a performanței, care este una dintre cele mai consistente părți empirice ale lucrării. Am executat o campanie reală de benchmark, prin aplicație, nu izolat: cinci modele, trei limbaje, patru orizonturi temporale, cu repetări — în total 180 de rulări ODE plus 4 rulări LSTM, toate finalizate fără niciun eșec, pe clusterul Kubernetes. Tabelul rezumă cele trei regimuri de cost calitativ diferite care au reieșit. Julia este cel mai rapid solver, 5-6 milisecunde la orizonturi mari, indiferent de model — dar plătește un cost de pornire JIT de aproape o secundă la prima rulare, pe care îl amortizează abia după mai multe rulări succesive. Python este cel mai stabil ca performanță, între 4 și 9 milisecunde, fără cold-start vizibil. Iar R apare de două-trei ordine de mărime mai lent la orizonturi mari — dar, și acesta este un punct important, nu din cauza solverului deSolve, care este rapid, ci din cauza inserărilor rând-cu-rând în baza de date. Este un punct concret de optimizare, nu o limitare intrinsecă a limbajului. Concluzia practică: Python pentru utilizare interactivă, Julia pentru calibrări lungi, unde costul JIT se amortizează.</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Figura aceasta arată vizual scalarea, pe o scară logaritmică pe ambele axe. Se văd cele trei regimuri dintr-o privire: R crește aproape liniar cu orizontul de integrare, pentru că este dominat de scrierile în baza de date, în timp ce Julia și Python rămân practic plate. Tot la capitolul acuratețe, am făcut și o verificare de regresie cross-limbaj: am confirmat că Julia și Python produc traiectorii practic identice, la nivelul preciziei flotante, de ordinul 10 la minus 8, pentru că ambele folosesc solvere Runge-Kutta adaptive cu toleranțe similare. Implementarea R deviază controlat, cu 10 la minus 4 — adică sub 0,02% din populație — din cauza solverului cu pas fix. Este o diferență deliberată, nu o eroare, și îmi dă o limită cantitativă a interschimbabilității runnerelor.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Aplicația web este interfața prin care tot acest sistem devine efectiv utilizabil. Are două aplicații Vue 3 separate: una pentru cercetători și colaboratori, și o consolă separată pentru super-admini. Accesul este controlat printr-un sistem RBAC la nivel de studiu, cu patru roluri — admin, researcher, contributor și viewer — plus un flag global de super-admin. Fluxul de lucru este complet, apropiat de un scenariu real de cercetare colaborativă: creezi un studiu, acorzi roluri membrilor, încarci un set de date, alegi modelul și parametrii, lansezi simularea asincron și apoi vizualizezi traiectoriile și compari mai multe rulări. Securitatea am tratat-o ca cerință funcțională, nu ca adaos ulterior: autentificare cu token JWT semnat și verificat explicit, inclusiv împotriva atacului de confuzie de algoritm, parole stocate ca hash bcrypt, izolare împotriva atacurilor de tip IDOR — adică nu poți accesa datele altui studiu prin simpla schimbare a identificatorului din URL — și toate interogările SQL parametrizate, ceea ce elimină injecția SQL.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Vreau să subliniez că sistemul nu este doar conceptual sau rulat local — l-am deployat efectiv pe un cluster Kubernetes real, numit kube-4kdhb, găzduit pe o platformă cloud privată OpenStack. Topologia din figură arată configurația: trei noduri de control plane și trei noduri worker, cu YugabyteDB rulând la factor de replicare 3, gestionat prin Helm. Această experiență de deployment real confirmă portabilitatea arhitecturii într-un mediu distribuit și a scos la iveală câteva ajustări practice specifice mediilor distribuite, cum ar fi aplicarea migrațiilor de bază de date, pe care le-am documentat în capitolul de concluzii.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Ajungem la concluzii. Cred că rezultatul principal al lucrării este că am construit un lanț complet și coerent: de la formalismul matematic al modelelor, prin implementarea efectivă în trei limbaje, până la o arhitectură software distribuită care le pune cap la cap. Și, foarte important, niciuna dintre afirmațiile cantitative din lucrare nu este speculativă — toate sunt validate empiric, prin campania reală de benchmark și prin calibrarea pe date reale, cross-regiune. Componenta LSTM am evaluat-o onest, delimitându-i clar regimul în care are sens. Iar întregul sistem a fost deployat și verificat pe un cluster Kubernetes real. Pe scurt, cele patru obiective propuse la început au fost atinse concret, fiecare cu rezultate măsurabile.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Și acum slide-ul cel mai important pentru o susținere — contribuțiile mele originale, sintetizate. Sunt cinci. Prima: un benchmarking comparativ cross-limbaj al aceluiași model, implementat și măsurat sistematic în R, Julia și Python, în condiții identice — ceva ce bibliotecile mono-limbaj de rezolvare a ecuațiilor pur și simplu nu oferă. A doua: o metodologie unitară de colectare a metricilor, în care fiecare runner marchează explicit stările simulării și scrie în aceeași schemă de bază de date, ceea ce evită comparațiile informale, influențate de diferențe de infrastructură. A treia: separarea explicită a comparației epidemiologice de comparația software, susținută de operatori de observație definiți per model. A patra: o platformă web colaborativă completă, cu control al accesului bazat pe roluri la nivel de studiu. Și a cincea, cea mai importantă din punct de vedere arhitectural: un sistem de plug-in-uri pentru algoritmi — un super-admin poate înregistra fie un script Python, fie o imagine container construită extern, iar API-ul provisionează automat un Deployment Kubernetes dedicat. Practic, asta deschide sistemul de la cele cinci modele plus LSTM la orice algoritm care respectă un contract minimal de intrare-ieșire, fără nicio modificare de cod în API sau în schema bazei de date.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 aceasta închei prezentarea. Vă mulțumesc pentru atenție și sunt pregătit să răspund la întrebările dumneavoastră. Vă stau la dispoziție pentru orice clarificare legată de modelele matematice, de implementarea în cele trei limbaje sau de rezultatele experimentale.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96596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965960"/>
            <a:ext cx="12191695" cy="73152"/>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457200"/>
            <a:ext cx="10972800" cy="1371600"/>
          </a:xfrm>
          <a:prstGeom prst="rect">
            <a:avLst/>
          </a:prstGeom>
          <a:noFill/>
        </p:spPr>
        <p:txBody>
          <a:bodyPr wrap="square" anchor="ctr" lIns="36576" rIns="36576" tIns="36576" bIns="36576">
            <a:spAutoFit/>
          </a:bodyPr>
          <a:lstStyle/>
          <a:p>
            <a:r>
              <a:rPr sz="1600" b="1" i="0">
                <a:solidFill>
                  <a:srgbClr val="FFFFFF"/>
                </a:solidFill>
                <a:latin typeface="Calibri"/>
              </a:rPr>
              <a:t>Universitatea Națională de Știință și Tehnologie POLITEHNICA București</a:t>
            </a:r>
          </a:p>
          <a:p>
            <a:r>
              <a:rPr sz="1300" b="0" i="0">
                <a:solidFill>
                  <a:srgbClr val="CFE6EE"/>
                </a:solidFill>
                <a:latin typeface="Calibri"/>
              </a:rPr>
              <a:t>Facultatea de Electronică, Telecomunicații și Tehnologia Informației</a:t>
            </a:r>
          </a:p>
          <a:p>
            <a:r>
              <a:rPr sz="1200" b="0" i="1">
                <a:solidFill>
                  <a:srgbClr val="BFDDE6"/>
                </a:solidFill>
                <a:latin typeface="Calibri"/>
              </a:rPr>
              <a:t>Programul de master: Ingineria Informației și Sisteme de Calcul</a:t>
            </a:r>
          </a:p>
        </p:txBody>
      </p:sp>
      <p:sp>
        <p:nvSpPr>
          <p:cNvPr id="6" name="TextBox 5"/>
          <p:cNvSpPr txBox="1"/>
          <p:nvPr/>
        </p:nvSpPr>
        <p:spPr>
          <a:xfrm>
            <a:off x="640080" y="2468880"/>
            <a:ext cx="10972800" cy="1645920"/>
          </a:xfrm>
          <a:prstGeom prst="rect">
            <a:avLst/>
          </a:prstGeom>
          <a:noFill/>
        </p:spPr>
        <p:txBody>
          <a:bodyPr wrap="square" anchor="t" lIns="36576" rIns="36576" tIns="36576" bIns="36576">
            <a:spAutoFit/>
          </a:bodyPr>
          <a:lstStyle/>
          <a:p>
            <a:r>
              <a:rPr sz="3300" b="1" i="0">
                <a:solidFill>
                  <a:srgbClr val="124A63"/>
                </a:solidFill>
                <a:latin typeface="Calibri"/>
              </a:rPr>
              <a:t>Sisteme e-medicine de gestionare și monitorizare a datelor epidemiologice</a:t>
            </a:r>
          </a:p>
          <a:p>
            <a:pPr>
              <a:spcBef>
                <a:spcPts val="1200"/>
              </a:spcBef>
            </a:pPr>
            <a:r>
              <a:rPr sz="1800" b="0" i="1">
                <a:solidFill>
                  <a:srgbClr val="1E88A8"/>
                </a:solidFill>
                <a:latin typeface="Calibri"/>
              </a:rPr>
              <a:t>Lucrare de disertație</a:t>
            </a:r>
          </a:p>
        </p:txBody>
      </p:sp>
      <p:sp>
        <p:nvSpPr>
          <p:cNvPr id="7" name="TextBox 6"/>
          <p:cNvSpPr txBox="1"/>
          <p:nvPr/>
        </p:nvSpPr>
        <p:spPr>
          <a:xfrm>
            <a:off x="640080" y="4937760"/>
            <a:ext cx="10972800" cy="1371600"/>
          </a:xfrm>
          <a:prstGeom prst="rect">
            <a:avLst/>
          </a:prstGeom>
          <a:noFill/>
        </p:spPr>
        <p:txBody>
          <a:bodyPr wrap="square" anchor="t" lIns="36576" rIns="36576" tIns="36576" bIns="36576">
            <a:spAutoFit/>
          </a:bodyPr>
          <a:lstStyle/>
          <a:p>
            <a:r>
              <a:rPr sz="1600" b="1" i="0">
                <a:solidFill>
                  <a:srgbClr val="6B767C"/>
                </a:solidFill>
                <a:latin typeface="Calibri"/>
              </a:rPr>
              <a:t>Absolvent:  </a:t>
            </a:r>
            <a:r>
              <a:rPr sz="1600" b="1" i="0">
                <a:solidFill>
                  <a:srgbClr val="20282C"/>
                </a:solidFill>
                <a:latin typeface="Calibri"/>
              </a:rPr>
              <a:t>Geană Tudor-Bogdan</a:t>
            </a:r>
          </a:p>
          <a:p>
            <a:pPr>
              <a:spcBef>
                <a:spcPts val="500"/>
              </a:spcBef>
            </a:pPr>
            <a:r>
              <a:rPr sz="1600" b="1" i="0">
                <a:solidFill>
                  <a:srgbClr val="6B767C"/>
                </a:solidFill>
                <a:latin typeface="Calibri"/>
              </a:rPr>
              <a:t>Coordonator științific:  </a:t>
            </a:r>
            <a:r>
              <a:rPr sz="1600" b="1" i="0">
                <a:solidFill>
                  <a:srgbClr val="20282C"/>
                </a:solidFill>
                <a:latin typeface="Calibri"/>
              </a:rPr>
              <a:t>Prof. Radu Rădescu</a:t>
            </a:r>
          </a:p>
          <a:p>
            <a:pPr>
              <a:spcBef>
                <a:spcPts val="1100"/>
              </a:spcBef>
            </a:pPr>
            <a:r>
              <a:rPr sz="1300" b="0" i="1">
                <a:solidFill>
                  <a:srgbClr val="6B767C"/>
                </a:solidFill>
                <a:latin typeface="Calibri"/>
              </a:rPr>
              <a:t>București, Iunie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Introducere</a:t>
            </a:r>
          </a:p>
          <a:p>
            <a:r>
              <a:rPr sz="3000" b="1" i="0">
                <a:solidFill>
                  <a:srgbClr val="FFFFFF"/>
                </a:solidFill>
                <a:latin typeface="Calibri"/>
              </a:rPr>
              <a:t>Context și motivație</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Boli infecțioase = proces populațional, nu doar clinic</a:t>
            </a:r>
          </a:p>
          <a:p>
            <a:pPr>
              <a:spcBef>
                <a:spcPts val="0"/>
              </a:spcBef>
              <a:spcAft>
                <a:spcPts val="1800"/>
              </a:spcAft>
            </a:pPr>
            <a:r>
              <a:rPr sz="2700" b="1" i="0">
                <a:solidFill>
                  <a:srgbClr val="1E88A8"/>
                </a:solidFill>
                <a:latin typeface="Calibri"/>
              </a:rPr>
              <a:t>▸  </a:t>
            </a:r>
            <a:r>
              <a:rPr sz="2700" b="0" i="0">
                <a:solidFill>
                  <a:srgbClr val="20282C"/>
                </a:solidFill>
                <a:latin typeface="Calibri"/>
              </a:rPr>
              <a:t>Modele compartimentale: limbaj matematic riguros (SIR, 1927)</a:t>
            </a:r>
          </a:p>
          <a:p>
            <a:pPr>
              <a:spcBef>
                <a:spcPts val="0"/>
              </a:spcBef>
              <a:spcAft>
                <a:spcPts val="1800"/>
              </a:spcAft>
            </a:pPr>
            <a:r>
              <a:rPr sz="2700" b="1" i="0">
                <a:solidFill>
                  <a:srgbClr val="1E88A8"/>
                </a:solidFill>
                <a:latin typeface="Calibri"/>
              </a:rPr>
              <a:t>▸  </a:t>
            </a:r>
            <a:r>
              <a:rPr sz="2700" b="0" i="0">
                <a:solidFill>
                  <a:srgbClr val="20282C"/>
                </a:solidFill>
                <a:latin typeface="Calibri"/>
              </a:rPr>
              <a:t>Costul implementării depinde de limbaj — R / Julia / Python</a:t>
            </a:r>
          </a:p>
          <a:p>
            <a:pPr>
              <a:spcBef>
                <a:spcPts val="0"/>
              </a:spcBef>
              <a:spcAft>
                <a:spcPts val="1800"/>
              </a:spcAft>
            </a:pPr>
            <a:r>
              <a:rPr sz="2700" b="1" i="0">
                <a:solidFill>
                  <a:srgbClr val="1E88A8"/>
                </a:solidFill>
                <a:latin typeface="Calibri"/>
              </a:rPr>
              <a:t>▸  </a:t>
            </a:r>
            <a:r>
              <a:rPr sz="2700" b="0" i="0">
                <a:solidFill>
                  <a:srgbClr val="20282C"/>
                </a:solidFill>
                <a:latin typeface="Calibri"/>
              </a:rPr>
              <a:t>Nevoie: sistem care leagă modelarea ↔ implementarea software</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Introducere</a:t>
            </a:r>
          </a:p>
          <a:p>
            <a:r>
              <a:rPr sz="3000" b="1" i="0">
                <a:solidFill>
                  <a:srgbClr val="FFFFFF"/>
                </a:solidFill>
                <a:latin typeface="Calibri"/>
              </a:rPr>
              <a:t>Obiective</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Sistem cu SIDARTHE principal + familia SIR/SIS/SEIR/SIRS</a:t>
            </a:r>
          </a:p>
          <a:p>
            <a:pPr>
              <a:spcBef>
                <a:spcPts val="0"/>
              </a:spcBef>
              <a:spcAft>
                <a:spcPts val="1800"/>
              </a:spcAft>
            </a:pPr>
            <a:r>
              <a:rPr sz="2700" b="1" i="0">
                <a:solidFill>
                  <a:srgbClr val="1E88A8"/>
                </a:solidFill>
                <a:latin typeface="Calibri"/>
              </a:rPr>
              <a:t>▸  </a:t>
            </a:r>
            <a:r>
              <a:rPr sz="2700" b="0" i="0">
                <a:solidFill>
                  <a:srgbClr val="20282C"/>
                </a:solidFill>
                <a:latin typeface="Calibri"/>
              </a:rPr>
              <a:t>Același contract de simulare în R, Julia, Python</a:t>
            </a:r>
          </a:p>
          <a:p>
            <a:pPr>
              <a:spcBef>
                <a:spcPts val="0"/>
              </a:spcBef>
              <a:spcAft>
                <a:spcPts val="1800"/>
              </a:spcAft>
            </a:pPr>
            <a:r>
              <a:rPr sz="2700" b="1" i="0">
                <a:solidFill>
                  <a:srgbClr val="1E88A8"/>
                </a:solidFill>
                <a:latin typeface="Calibri"/>
              </a:rPr>
              <a:t>▸  </a:t>
            </a:r>
            <a:r>
              <a:rPr sz="2700" b="0" i="0">
                <a:solidFill>
                  <a:srgbClr val="20282C"/>
                </a:solidFill>
                <a:latin typeface="Calibri"/>
              </a:rPr>
              <a:t>Metodologie de comparație și calibrare</a:t>
            </a:r>
          </a:p>
          <a:p>
            <a:pPr>
              <a:spcBef>
                <a:spcPts val="0"/>
              </a:spcBef>
              <a:spcAft>
                <a:spcPts val="1800"/>
              </a:spcAft>
            </a:pPr>
            <a:r>
              <a:rPr sz="2700" b="1" i="0">
                <a:solidFill>
                  <a:srgbClr val="1E88A8"/>
                </a:solidFill>
                <a:latin typeface="Calibri"/>
              </a:rPr>
              <a:t>▸  </a:t>
            </a:r>
            <a:r>
              <a:rPr sz="2700" b="0" i="0">
                <a:solidFill>
                  <a:srgbClr val="20282C"/>
                </a:solidFill>
                <a:latin typeface="Calibri"/>
              </a:rPr>
              <a:t>Extensie predictivă LSTM</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Fundamente</a:t>
            </a:r>
          </a:p>
          <a:p>
            <a:r>
              <a:rPr sz="3000" b="1" i="0">
                <a:solidFill>
                  <a:srgbClr val="FFFFFF"/>
                </a:solidFill>
                <a:latin typeface="Calibri"/>
              </a:rPr>
              <a:t>Modele compartimentale</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Familia SIR / SIS / SEIR / SIRS — repere</a:t>
            </a:r>
          </a:p>
          <a:p>
            <a:pPr>
              <a:spcBef>
                <a:spcPts val="0"/>
              </a:spcBef>
              <a:spcAft>
                <a:spcPts val="1800"/>
              </a:spcAft>
            </a:pPr>
            <a:r>
              <a:rPr sz="2700" b="1" i="0">
                <a:solidFill>
                  <a:srgbClr val="1E88A8"/>
                </a:solidFill>
                <a:latin typeface="Calibri"/>
              </a:rPr>
              <a:t>▸  </a:t>
            </a:r>
            <a:r>
              <a:rPr sz="2700" b="0" i="0">
                <a:solidFill>
                  <a:srgbClr val="20282C"/>
                </a:solidFill>
                <a:latin typeface="Calibri"/>
              </a:rPr>
              <a:t>Prag epidemic:  R₀ = β / γ   (epidemie dacă R₀ &gt; 1)</a:t>
            </a:r>
          </a:p>
          <a:p>
            <a:pPr>
              <a:spcBef>
                <a:spcPts val="0"/>
              </a:spcBef>
              <a:spcAft>
                <a:spcPts val="1800"/>
              </a:spcAft>
            </a:pPr>
            <a:r>
              <a:rPr sz="2700" b="1" i="0">
                <a:solidFill>
                  <a:srgbClr val="1E88A8"/>
                </a:solidFill>
                <a:latin typeface="Calibri"/>
              </a:rPr>
              <a:t>▸  </a:t>
            </a:r>
            <a:r>
              <a:rPr sz="2700" b="0" i="0">
                <a:solidFill>
                  <a:srgbClr val="20282C"/>
                </a:solidFill>
                <a:latin typeface="Calibri"/>
              </a:rPr>
              <a:t>Proprietăți demonstrate pentru SIR:</a:t>
            </a:r>
          </a:p>
          <a:p>
            <a:pPr lvl="1">
              <a:spcBef>
                <a:spcPts val="0"/>
              </a:spcBef>
              <a:spcAft>
                <a:spcPts val="1800"/>
              </a:spcAft>
            </a:pPr>
            <a:r>
              <a:rPr sz="2300" b="1" i="0">
                <a:solidFill>
                  <a:srgbClr val="6B767C"/>
                </a:solidFill>
                <a:latin typeface="Calibri"/>
              </a:rPr>
              <a:t>–  </a:t>
            </a:r>
            <a:r>
              <a:rPr sz="2300" b="0" i="0">
                <a:solidFill>
                  <a:srgbClr val="444C50"/>
                </a:solidFill>
                <a:latin typeface="Calibri"/>
              </a:rPr>
              <a:t>conservarea populației, pozitivitate, dimensiunea finală</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Fundamente</a:t>
            </a:r>
          </a:p>
          <a:p>
            <a:r>
              <a:rPr sz="3000" b="1" i="0">
                <a:solidFill>
                  <a:srgbClr val="FFFFFF"/>
                </a:solidFill>
                <a:latin typeface="Calibri"/>
              </a:rPr>
              <a:t>Diagrama modelului SIR</a:t>
            </a:r>
          </a:p>
        </p:txBody>
      </p:sp>
      <p:pic>
        <p:nvPicPr>
          <p:cNvPr id="5" name="Picture 4" descr="sir_diagram.png"/>
          <p:cNvPicPr>
            <a:picLocks noChangeAspect="1"/>
          </p:cNvPicPr>
          <p:nvPr/>
        </p:nvPicPr>
        <p:blipFill>
          <a:blip r:embed="rId2"/>
          <a:stretch>
            <a:fillRect/>
          </a:stretch>
        </p:blipFill>
        <p:spPr>
          <a:xfrm>
            <a:off x="320040" y="2906782"/>
            <a:ext cx="11548872" cy="1638795"/>
          </a:xfrm>
          <a:prstGeom prst="rect">
            <a:avLst/>
          </a:prstGeom>
        </p:spPr>
      </p:pic>
      <p:sp>
        <p:nvSpPr>
          <p:cNvPr id="6" name="TextBox 5"/>
          <p:cNvSpPr txBox="1"/>
          <p:nvPr/>
        </p:nvSpPr>
        <p:spPr>
          <a:xfrm>
            <a:off x="457200" y="6327648"/>
            <a:ext cx="10515600" cy="411480"/>
          </a:xfrm>
          <a:prstGeom prst="rect">
            <a:avLst/>
          </a:prstGeom>
          <a:noFill/>
        </p:spPr>
        <p:txBody>
          <a:bodyPr wrap="square" anchor="t" lIns="36576" rIns="36576" tIns="36576" bIns="36576">
            <a:spAutoFit/>
          </a:bodyPr>
          <a:lstStyle/>
          <a:p>
            <a:pPr algn="ctr"/>
            <a:r>
              <a:rPr sz="1400" b="0" i="1">
                <a:solidFill>
                  <a:srgbClr val="6B767C"/>
                </a:solidFill>
                <a:latin typeface="Calibri"/>
              </a:rPr>
              <a:t>Fluxul compartimentelor: S → I → R</a:t>
            </a:r>
          </a:p>
        </p:txBody>
      </p:sp>
      <p:sp>
        <p:nvSpPr>
          <p:cNvPr id="7" name="TextBox 6"/>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Model clinic principal</a:t>
            </a:r>
          </a:p>
          <a:p>
            <a:r>
              <a:rPr sz="3000" b="1" i="0">
                <a:solidFill>
                  <a:srgbClr val="FFFFFF"/>
                </a:solidFill>
                <a:latin typeface="Calibri"/>
              </a:rPr>
              <a:t>Modelul SIDARTHE</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8 compartimente · 16 rate</a:t>
            </a:r>
          </a:p>
          <a:p>
            <a:pPr>
              <a:spcBef>
                <a:spcPts val="0"/>
              </a:spcBef>
              <a:spcAft>
                <a:spcPts val="1800"/>
              </a:spcAft>
            </a:pPr>
            <a:r>
              <a:rPr sz="2700" b="1" i="0">
                <a:solidFill>
                  <a:srgbClr val="1E88A8"/>
                </a:solidFill>
                <a:latin typeface="Calibri"/>
              </a:rPr>
              <a:t>▸  </a:t>
            </a:r>
            <a:r>
              <a:rPr sz="2700" b="0" i="0">
                <a:solidFill>
                  <a:srgbClr val="20282C"/>
                </a:solidFill>
                <a:latin typeface="Calibri"/>
              </a:rPr>
              <a:t>Separă: nedepistați vs diagnosticați</a:t>
            </a:r>
          </a:p>
          <a:p>
            <a:pPr>
              <a:spcBef>
                <a:spcPts val="0"/>
              </a:spcBef>
              <a:spcAft>
                <a:spcPts val="1800"/>
              </a:spcAft>
            </a:pPr>
            <a:r>
              <a:rPr sz="2700" b="1" i="0">
                <a:solidFill>
                  <a:srgbClr val="1E88A8"/>
                </a:solidFill>
                <a:latin typeface="Calibri"/>
              </a:rPr>
              <a:t>▸  </a:t>
            </a:r>
            <a:r>
              <a:rPr sz="2700" b="0" i="0">
                <a:solidFill>
                  <a:srgbClr val="20282C"/>
                </a:solidFill>
                <a:latin typeface="Calibri"/>
              </a:rPr>
              <a:t>forme ușoare vs severe · vindecări vs decese</a:t>
            </a:r>
          </a:p>
          <a:p>
            <a:pPr>
              <a:spcBef>
                <a:spcPts val="0"/>
              </a:spcBef>
              <a:spcAft>
                <a:spcPts val="1800"/>
              </a:spcAft>
            </a:pPr>
            <a:r>
              <a:rPr sz="2700" b="1" i="0">
                <a:solidFill>
                  <a:srgbClr val="1E88A8"/>
                </a:solidFill>
                <a:latin typeface="Calibri"/>
              </a:rPr>
              <a:t>▸  </a:t>
            </a:r>
            <a:r>
              <a:rPr sz="2700" b="0" i="0">
                <a:solidFill>
                  <a:srgbClr val="20282C"/>
                </a:solidFill>
                <a:latin typeface="Calibri"/>
              </a:rPr>
              <a:t>Mai aproape de raportarea clinică reală</a:t>
            </a:r>
          </a:p>
          <a:p>
            <a:pPr>
              <a:spcBef>
                <a:spcPts val="0"/>
              </a:spcBef>
              <a:spcAft>
                <a:spcPts val="1800"/>
              </a:spcAft>
            </a:pPr>
            <a:r>
              <a:rPr sz="2700" b="1" i="0">
                <a:solidFill>
                  <a:srgbClr val="1E88A8"/>
                </a:solidFill>
                <a:latin typeface="Calibri"/>
              </a:rPr>
              <a:t>▸  </a:t>
            </a:r>
            <a:r>
              <a:rPr sz="2700" b="0" i="0">
                <a:solidFill>
                  <a:srgbClr val="20282C"/>
                </a:solidFill>
                <a:latin typeface="Calibri"/>
              </a:rPr>
              <a:t>Conservare + pozitivitate — demonstrate</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Proiectare</a:t>
            </a:r>
          </a:p>
          <a:p>
            <a:r>
              <a:rPr sz="3000" b="1" i="0">
                <a:solidFill>
                  <a:srgbClr val="FFFFFF"/>
                </a:solidFill>
                <a:latin typeface="Calibri"/>
              </a:rPr>
              <a:t>Arhitectura sistemului</a:t>
            </a:r>
          </a:p>
        </p:txBody>
      </p:sp>
      <p:pic>
        <p:nvPicPr>
          <p:cNvPr id="5" name="Picture 4" descr="arhitectura.png"/>
          <p:cNvPicPr>
            <a:picLocks noChangeAspect="1"/>
          </p:cNvPicPr>
          <p:nvPr/>
        </p:nvPicPr>
        <p:blipFill>
          <a:blip r:embed="rId2"/>
          <a:stretch>
            <a:fillRect/>
          </a:stretch>
        </p:blipFill>
        <p:spPr>
          <a:xfrm>
            <a:off x="4360881" y="1188720"/>
            <a:ext cx="3467190" cy="5074920"/>
          </a:xfrm>
          <a:prstGeom prst="rect">
            <a:avLst/>
          </a:prstGeom>
        </p:spPr>
      </p:pic>
      <p:sp>
        <p:nvSpPr>
          <p:cNvPr id="6" name="TextBox 5"/>
          <p:cNvSpPr txBox="1"/>
          <p:nvPr/>
        </p:nvSpPr>
        <p:spPr>
          <a:xfrm>
            <a:off x="457200" y="6327648"/>
            <a:ext cx="10515600" cy="411480"/>
          </a:xfrm>
          <a:prstGeom prst="rect">
            <a:avLst/>
          </a:prstGeom>
          <a:noFill/>
        </p:spPr>
        <p:txBody>
          <a:bodyPr wrap="square" anchor="t" lIns="36576" rIns="36576" tIns="36576" bIns="36576">
            <a:spAutoFit/>
          </a:bodyPr>
          <a:lstStyle/>
          <a:p>
            <a:pPr algn="ctr"/>
            <a:r>
              <a:rPr sz="1400" b="0" i="1">
                <a:solidFill>
                  <a:srgbClr val="6B767C"/>
                </a:solidFill>
                <a:latin typeface="Calibri"/>
              </a:rPr>
              <a:t>Flux de simulare asincron · 2 interfețe Vue.js peste același API</a:t>
            </a:r>
          </a:p>
        </p:txBody>
      </p:sp>
      <p:sp>
        <p:nvSpPr>
          <p:cNvPr id="7" name="TextBox 6"/>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Implementare</a:t>
            </a:r>
          </a:p>
          <a:p>
            <a:r>
              <a:rPr sz="3000" b="1" i="0">
                <a:solidFill>
                  <a:srgbClr val="FFFFFF"/>
                </a:solidFill>
                <a:latin typeface="Calibri"/>
              </a:rPr>
              <a:t>Trei limbaje, un contract</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R — deSolve (RK4)</a:t>
            </a:r>
          </a:p>
          <a:p>
            <a:pPr>
              <a:spcBef>
                <a:spcPts val="0"/>
              </a:spcBef>
              <a:spcAft>
                <a:spcPts val="1800"/>
              </a:spcAft>
            </a:pPr>
            <a:r>
              <a:rPr sz="2700" b="1" i="0">
                <a:solidFill>
                  <a:srgbClr val="1E88A8"/>
                </a:solidFill>
                <a:latin typeface="Calibri"/>
              </a:rPr>
              <a:t>▸  </a:t>
            </a:r>
            <a:r>
              <a:rPr sz="2700" b="0" i="0">
                <a:solidFill>
                  <a:srgbClr val="20282C"/>
                </a:solidFill>
                <a:latin typeface="Calibri"/>
              </a:rPr>
              <a:t>Julia — DifferentialEquations.jl (Tsit5)</a:t>
            </a:r>
          </a:p>
          <a:p>
            <a:pPr>
              <a:spcBef>
                <a:spcPts val="0"/>
              </a:spcBef>
              <a:spcAft>
                <a:spcPts val="1800"/>
              </a:spcAft>
            </a:pPr>
            <a:r>
              <a:rPr sz="2700" b="1" i="0">
                <a:solidFill>
                  <a:srgbClr val="1E88A8"/>
                </a:solidFill>
                <a:latin typeface="Calibri"/>
              </a:rPr>
              <a:t>▸  </a:t>
            </a:r>
            <a:r>
              <a:rPr sz="2700" b="0" i="0">
                <a:solidFill>
                  <a:srgbClr val="20282C"/>
                </a:solidFill>
                <a:latin typeface="Calibri"/>
              </a:rPr>
              <a:t>Python — SciPy solve_ivp (RK45)</a:t>
            </a:r>
          </a:p>
          <a:p>
            <a:pPr>
              <a:spcBef>
                <a:spcPts val="0"/>
              </a:spcBef>
              <a:spcAft>
                <a:spcPts val="1800"/>
              </a:spcAft>
            </a:pPr>
            <a:r>
              <a:rPr sz="2700" b="1" i="0">
                <a:solidFill>
                  <a:srgbClr val="1E88A8"/>
                </a:solidFill>
                <a:latin typeface="Calibri"/>
              </a:rPr>
              <a:t>▸  </a:t>
            </a:r>
            <a:r>
              <a:rPr sz="2700" b="0" i="0">
                <a:solidFill>
                  <a:srgbClr val="20282C"/>
                </a:solidFill>
                <a:latin typeface="Calibri"/>
              </a:rPr>
              <a:t>Aceeași coadă Redis + schemă JSONB → interschimbabile</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Extensie predictivă</a:t>
            </a:r>
          </a:p>
          <a:p>
            <a:r>
              <a:rPr sz="3000" b="1" i="0">
                <a:solidFill>
                  <a:srgbClr val="FFFFFF"/>
                </a:solidFill>
                <a:latin typeface="Calibri"/>
              </a:rPr>
              <a:t>Predicție LSTM</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LSTM hand-rolled în NumPy (BPTT, SGD)</a:t>
            </a:r>
          </a:p>
          <a:p>
            <a:pPr>
              <a:spcBef>
                <a:spcPts val="0"/>
              </a:spcBef>
              <a:spcAft>
                <a:spcPts val="1800"/>
              </a:spcAft>
            </a:pPr>
            <a:r>
              <a:rPr sz="2700" b="1" i="0">
                <a:solidFill>
                  <a:srgbClr val="1E88A8"/>
                </a:solidFill>
                <a:latin typeface="Calibri"/>
              </a:rPr>
              <a:t>▸  </a:t>
            </a:r>
            <a:r>
              <a:rPr sz="2700" b="0" i="0">
                <a:solidFill>
                  <a:srgbClr val="20282C"/>
                </a:solidFill>
                <a:latin typeface="Calibri"/>
              </a:rPr>
              <a:t>Univariată, independentă de modele</a:t>
            </a:r>
          </a:p>
          <a:p>
            <a:pPr>
              <a:spcBef>
                <a:spcPts val="0"/>
              </a:spcBef>
              <a:spcAft>
                <a:spcPts val="1800"/>
              </a:spcAft>
            </a:pPr>
            <a:r>
              <a:rPr sz="2700" b="1" i="0">
                <a:solidFill>
                  <a:srgbClr val="1E88A8"/>
                </a:solidFill>
                <a:latin typeface="Calibri"/>
              </a:rPr>
              <a:t>▸  </a:t>
            </a:r>
            <a:r>
              <a:rPr sz="2700" b="0" i="0">
                <a:solidFill>
                  <a:srgbClr val="20282C"/>
                </a:solidFill>
                <a:latin typeface="Calibri"/>
              </a:rPr>
              <a:t>Rezultat onest: persistența domină la 1 zi</a:t>
            </a:r>
          </a:p>
          <a:p>
            <a:pPr lvl="1">
              <a:spcBef>
                <a:spcPts val="0"/>
              </a:spcBef>
              <a:spcAft>
                <a:spcPts val="1800"/>
              </a:spcAft>
            </a:pPr>
            <a:r>
              <a:rPr sz="2300" b="1" i="0">
                <a:solidFill>
                  <a:srgbClr val="6B767C"/>
                </a:solidFill>
                <a:latin typeface="Calibri"/>
              </a:rPr>
              <a:t>–  </a:t>
            </a:r>
            <a:r>
              <a:rPr sz="2300" b="0" i="0">
                <a:solidFill>
                  <a:srgbClr val="444C50"/>
                </a:solidFill>
                <a:latin typeface="Calibri"/>
              </a:rPr>
              <a:t>85% zile plate (raportare săptămânală)</a:t>
            </a:r>
          </a:p>
          <a:p>
            <a:pPr>
              <a:spcBef>
                <a:spcPts val="0"/>
              </a:spcBef>
              <a:spcAft>
                <a:spcPts val="1800"/>
              </a:spcAft>
            </a:pPr>
            <a:r>
              <a:rPr sz="2700" b="1" i="0">
                <a:solidFill>
                  <a:srgbClr val="1E88A8"/>
                </a:solidFill>
                <a:latin typeface="Calibri"/>
              </a:rPr>
              <a:t>▸  </a:t>
            </a:r>
            <a:r>
              <a:rPr sz="2700" b="0" i="0">
                <a:solidFill>
                  <a:srgbClr val="20282C"/>
                </a:solidFill>
                <a:latin typeface="Calibri"/>
              </a:rPr>
              <a:t>Rol: prognoză scurtă + corecție reziduuri</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Rezultate</a:t>
            </a:r>
          </a:p>
          <a:p>
            <a:r>
              <a:rPr sz="3000" b="1" i="0">
                <a:solidFill>
                  <a:srgbClr val="FFFFFF"/>
                </a:solidFill>
                <a:latin typeface="Calibri"/>
              </a:rPr>
              <a:t>Predicții LSTM pe seria României</a:t>
            </a:r>
          </a:p>
        </p:txBody>
      </p:sp>
      <p:pic>
        <p:nvPicPr>
          <p:cNvPr id="5" name="Picture 4" descr="lstm_trajectory.png"/>
          <p:cNvPicPr>
            <a:picLocks noChangeAspect="1"/>
          </p:cNvPicPr>
          <p:nvPr/>
        </p:nvPicPr>
        <p:blipFill>
          <a:blip r:embed="rId2"/>
          <a:stretch>
            <a:fillRect/>
          </a:stretch>
        </p:blipFill>
        <p:spPr>
          <a:xfrm>
            <a:off x="320040" y="1301431"/>
            <a:ext cx="11548872" cy="4849498"/>
          </a:xfrm>
          <a:prstGeom prst="rect">
            <a:avLst/>
          </a:prstGeom>
        </p:spPr>
      </p:pic>
      <p:sp>
        <p:nvSpPr>
          <p:cNvPr id="6" name="TextBox 5"/>
          <p:cNvSpPr txBox="1"/>
          <p:nvPr/>
        </p:nvSpPr>
        <p:spPr>
          <a:xfrm>
            <a:off x="457200" y="6327648"/>
            <a:ext cx="10515600" cy="411480"/>
          </a:xfrm>
          <a:prstGeom prst="rect">
            <a:avLst/>
          </a:prstGeom>
          <a:noFill/>
        </p:spPr>
        <p:txBody>
          <a:bodyPr wrap="square" anchor="t" lIns="36576" rIns="36576" tIns="36576" bIns="36576">
            <a:spAutoFit/>
          </a:bodyPr>
          <a:lstStyle/>
          <a:p>
            <a:pPr algn="ctr"/>
            <a:r>
              <a:rPr sz="1400" b="0" i="1">
                <a:solidFill>
                  <a:srgbClr val="6B767C"/>
                </a:solidFill>
                <a:latin typeface="Calibri"/>
              </a:rPr>
              <a:t>Observat / fitted / predicted — prognoza autoregresivă se aplatizează</a:t>
            </a:r>
          </a:p>
        </p:txBody>
      </p:sp>
      <p:sp>
        <p:nvSpPr>
          <p:cNvPr id="7" name="TextBox 6"/>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Metodologie</a:t>
            </a:r>
          </a:p>
          <a:p>
            <a:r>
              <a:rPr sz="3000" b="1" i="0">
                <a:solidFill>
                  <a:srgbClr val="FFFFFF"/>
                </a:solidFill>
                <a:latin typeface="Calibri"/>
              </a:rPr>
              <a:t>Comparație și calibrare</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Operator de observație  g_m(x)</a:t>
            </a:r>
          </a:p>
          <a:p>
            <a:pPr>
              <a:spcBef>
                <a:spcPts val="0"/>
              </a:spcBef>
              <a:spcAft>
                <a:spcPts val="1800"/>
              </a:spcAft>
            </a:pPr>
            <a:r>
              <a:rPr sz="2700" b="1" i="0">
                <a:solidFill>
                  <a:srgbClr val="1E88A8"/>
                </a:solidFill>
                <a:latin typeface="Calibri"/>
              </a:rPr>
              <a:t>▸  </a:t>
            </a:r>
            <a:r>
              <a:rPr sz="2700" b="0" i="0">
                <a:solidFill>
                  <a:srgbClr val="20282C"/>
                </a:solidFill>
                <a:latin typeface="Calibri"/>
              </a:rPr>
              <a:t>Erori: MAE / RMSE / nRMSE (antrenare vs test)</a:t>
            </a:r>
          </a:p>
          <a:p>
            <a:pPr>
              <a:spcBef>
                <a:spcPts val="0"/>
              </a:spcBef>
              <a:spcAft>
                <a:spcPts val="1800"/>
              </a:spcAft>
            </a:pPr>
            <a:r>
              <a:rPr sz="2700" b="1" i="0">
                <a:solidFill>
                  <a:srgbClr val="1E88A8"/>
                </a:solidFill>
                <a:latin typeface="Calibri"/>
              </a:rPr>
              <a:t>▸  </a:t>
            </a:r>
            <a:r>
              <a:rPr sz="2700" b="0" i="0">
                <a:solidFill>
                  <a:srgbClr val="20282C"/>
                </a:solidFill>
                <a:latin typeface="Calibri"/>
              </a:rPr>
              <a:t>Calibrare = optimizare (Nelder–Mead)</a:t>
            </a:r>
          </a:p>
          <a:p>
            <a:pPr>
              <a:spcBef>
                <a:spcPts val="0"/>
              </a:spcBef>
              <a:spcAft>
                <a:spcPts val="1800"/>
              </a:spcAft>
            </a:pPr>
            <a:r>
              <a:rPr sz="2700" b="1" i="0">
                <a:solidFill>
                  <a:srgbClr val="1E88A8"/>
                </a:solidFill>
                <a:latin typeface="Calibri"/>
              </a:rPr>
              <a:t>▸  </a:t>
            </a:r>
            <a:r>
              <a:rPr sz="2700" b="0" i="0">
                <a:solidFill>
                  <a:srgbClr val="20282C"/>
                </a:solidFill>
                <a:latin typeface="Calibri"/>
              </a:rPr>
              <a:t>Separare: comparație epidemiologică vs software</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Rezultate</a:t>
            </a:r>
          </a:p>
          <a:p>
            <a:r>
              <a:rPr sz="3000" b="1" i="0">
                <a:solidFill>
                  <a:srgbClr val="FFFFFF"/>
                </a:solidFill>
                <a:latin typeface="Calibri"/>
              </a:rPr>
              <a:t>Calibrare SIR pe 4 țări europene</a:t>
            </a:r>
          </a:p>
        </p:txBody>
      </p:sp>
      <p:pic>
        <p:nvPicPr>
          <p:cNvPr id="5" name="Picture 4" descr="calibration_multiregion.png"/>
          <p:cNvPicPr>
            <a:picLocks noChangeAspect="1"/>
          </p:cNvPicPr>
          <p:nvPr/>
        </p:nvPicPr>
        <p:blipFill>
          <a:blip r:embed="rId2"/>
          <a:stretch>
            <a:fillRect/>
          </a:stretch>
        </p:blipFill>
        <p:spPr>
          <a:xfrm>
            <a:off x="2542860" y="1188720"/>
            <a:ext cx="7103232" cy="5074920"/>
          </a:xfrm>
          <a:prstGeom prst="rect">
            <a:avLst/>
          </a:prstGeom>
        </p:spPr>
      </p:pic>
      <p:sp>
        <p:nvSpPr>
          <p:cNvPr id="6" name="TextBox 5"/>
          <p:cNvSpPr txBox="1"/>
          <p:nvPr/>
        </p:nvSpPr>
        <p:spPr>
          <a:xfrm>
            <a:off x="457200" y="6327648"/>
            <a:ext cx="10515600" cy="411480"/>
          </a:xfrm>
          <a:prstGeom prst="rect">
            <a:avLst/>
          </a:prstGeom>
          <a:noFill/>
        </p:spPr>
        <p:txBody>
          <a:bodyPr wrap="square" anchor="t" lIns="36576" rIns="36576" tIns="36576" bIns="36576">
            <a:spAutoFit/>
          </a:bodyPr>
          <a:lstStyle/>
          <a:p>
            <a:pPr algn="ctr"/>
            <a:r>
              <a:rPr sz="1400" b="0" i="1">
                <a:solidFill>
                  <a:srgbClr val="6B767C"/>
                </a:solidFill>
                <a:latin typeface="Calibri"/>
              </a:rPr>
              <a:t>γ = 1/14, valul 1 COVID-19 · R₀ între 0,94 și 1,45</a:t>
            </a:r>
          </a:p>
        </p:txBody>
      </p:sp>
      <p:sp>
        <p:nvSpPr>
          <p:cNvPr id="7" name="TextBox 6"/>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Evaluare</a:t>
            </a:r>
          </a:p>
          <a:p>
            <a:r>
              <a:rPr sz="3000" b="1" i="0">
                <a:solidFill>
                  <a:srgbClr val="FFFFFF"/>
                </a:solidFill>
                <a:latin typeface="Calibri"/>
              </a:rPr>
              <a:t>Rezultate benchmark</a:t>
            </a:r>
          </a:p>
        </p:txBody>
      </p:sp>
      <p:sp>
        <p:nvSpPr>
          <p:cNvPr id="5" name="TextBox 4"/>
          <p:cNvSpPr txBox="1"/>
          <p:nvPr/>
        </p:nvSpPr>
        <p:spPr>
          <a:xfrm>
            <a:off x="548640" y="1143000"/>
            <a:ext cx="10972800" cy="548640"/>
          </a:xfrm>
          <a:prstGeom prst="rect">
            <a:avLst/>
          </a:prstGeom>
          <a:noFill/>
        </p:spPr>
        <p:txBody>
          <a:bodyPr wrap="square" anchor="t" lIns="36576" rIns="36576" tIns="36576" bIns="36576">
            <a:spAutoFit/>
          </a:bodyPr>
          <a:lstStyle/>
          <a:p>
            <a:r>
              <a:rPr sz="2200" b="1" i="0">
                <a:solidFill>
                  <a:srgbClr val="20282C"/>
                </a:solidFill>
                <a:latin typeface="Calibri"/>
              </a:rPr>
              <a:t>180 rulări ODE + 4 LSTM · 0 eșecuri · cluster Kubernetes</a:t>
            </a:r>
          </a:p>
        </p:txBody>
      </p:sp>
      <p:graphicFrame>
        <p:nvGraphicFramePr>
          <p:cNvPr id="6" name="Table 5"/>
          <p:cNvGraphicFramePr>
            <a:graphicFrameLocks noGrp="1"/>
          </p:cNvGraphicFramePr>
          <p:nvPr/>
        </p:nvGraphicFramePr>
        <p:xfrm>
          <a:off x="548640" y="2011680"/>
          <a:ext cx="11064240" cy="2743200"/>
        </p:xfrm>
        <a:graphic>
          <a:graphicData uri="http://schemas.openxmlformats.org/drawingml/2006/table">
            <a:tbl>
              <a:tblPr firstRow="1" bandRow="1">
                <a:tableStyleId>{5C22544A-7EE6-4342-B048-85BDC9FD1C3A}</a:tableStyleId>
              </a:tblPr>
              <a:tblGrid>
                <a:gridCol w="2377440"/>
                <a:gridCol w="3383280"/>
                <a:gridCol w="5303520"/>
              </a:tblGrid>
              <a:tr h="685800">
                <a:tc>
                  <a:txBody>
                    <a:bodyPr/>
                    <a:lstStyle/>
                    <a:p>
                      <a:r>
                        <a:rPr sz="2000" b="1" i="0">
                          <a:solidFill>
                            <a:srgbClr val="FFFFFF"/>
                          </a:solidFill>
                          <a:latin typeface="Calibri"/>
                        </a:rPr>
                        <a:t>Limbaj</a:t>
                      </a:r>
                    </a:p>
                  </a:txBody>
                  <a:tcPr>
                    <a:solidFill>
                      <a:srgbClr val="124A63"/>
                    </a:solidFill>
                  </a:tcPr>
                </a:tc>
                <a:tc>
                  <a:txBody>
                    <a:bodyPr/>
                    <a:lstStyle/>
                    <a:p>
                      <a:r>
                        <a:rPr sz="2000" b="1" i="0">
                          <a:solidFill>
                            <a:srgbClr val="FFFFFF"/>
                          </a:solidFill>
                          <a:latin typeface="Calibri"/>
                        </a:rPr>
                        <a:t>Wall-time @ 10k</a:t>
                      </a:r>
                    </a:p>
                  </a:txBody>
                  <a:tcPr>
                    <a:solidFill>
                      <a:srgbClr val="124A63"/>
                    </a:solidFill>
                  </a:tcPr>
                </a:tc>
                <a:tc>
                  <a:txBody>
                    <a:bodyPr/>
                    <a:lstStyle/>
                    <a:p>
                      <a:r>
                        <a:rPr sz="2000" b="1" i="0">
                          <a:solidFill>
                            <a:srgbClr val="FFFFFF"/>
                          </a:solidFill>
                          <a:latin typeface="Calibri"/>
                        </a:rPr>
                        <a:t>Profil</a:t>
                      </a:r>
                    </a:p>
                  </a:txBody>
                  <a:tcPr>
                    <a:solidFill>
                      <a:srgbClr val="124A63"/>
                    </a:solidFill>
                  </a:tcPr>
                </a:tc>
              </a:tr>
              <a:tr h="685800">
                <a:tc>
                  <a:txBody>
                    <a:bodyPr/>
                    <a:lstStyle/>
                    <a:p>
                      <a:r>
                        <a:rPr sz="1900" b="1" i="0">
                          <a:solidFill>
                            <a:srgbClr val="124A63"/>
                          </a:solidFill>
                          <a:latin typeface="Calibri"/>
                        </a:rPr>
                        <a:t>Julia</a:t>
                      </a:r>
                    </a:p>
                  </a:txBody>
                  <a:tcPr>
                    <a:solidFill>
                      <a:srgbClr val="FFFFFF"/>
                    </a:solidFill>
                  </a:tcPr>
                </a:tc>
                <a:tc>
                  <a:txBody>
                    <a:bodyPr/>
                    <a:lstStyle/>
                    <a:p>
                      <a:r>
                        <a:rPr sz="1900" b="0" i="0">
                          <a:solidFill>
                            <a:srgbClr val="20282C"/>
                          </a:solidFill>
                          <a:latin typeface="Calibri"/>
                        </a:rPr>
                        <a:t>5–6 ms</a:t>
                      </a:r>
                    </a:p>
                  </a:txBody>
                  <a:tcPr>
                    <a:solidFill>
                      <a:srgbClr val="FFFFFF"/>
                    </a:solidFill>
                  </a:tcPr>
                </a:tc>
                <a:tc>
                  <a:txBody>
                    <a:bodyPr/>
                    <a:lstStyle/>
                    <a:p>
                      <a:r>
                        <a:rPr sz="1900" b="0" i="0">
                          <a:solidFill>
                            <a:srgbClr val="20282C"/>
                          </a:solidFill>
                          <a:latin typeface="Calibri"/>
                        </a:rPr>
                        <a:t>rapid; cold-start JIT ~1 s</a:t>
                      </a:r>
                    </a:p>
                  </a:txBody>
                  <a:tcPr>
                    <a:solidFill>
                      <a:srgbClr val="FFFFFF"/>
                    </a:solidFill>
                  </a:tcPr>
                </a:tc>
              </a:tr>
              <a:tr h="685800">
                <a:tc>
                  <a:txBody>
                    <a:bodyPr/>
                    <a:lstStyle/>
                    <a:p>
                      <a:r>
                        <a:rPr sz="1900" b="1" i="0">
                          <a:solidFill>
                            <a:srgbClr val="124A63"/>
                          </a:solidFill>
                          <a:latin typeface="Calibri"/>
                        </a:rPr>
                        <a:t>Python</a:t>
                      </a:r>
                    </a:p>
                  </a:txBody>
                  <a:tcPr>
                    <a:solidFill>
                      <a:srgbClr val="EFF4F6"/>
                    </a:solidFill>
                  </a:tcPr>
                </a:tc>
                <a:tc>
                  <a:txBody>
                    <a:bodyPr/>
                    <a:lstStyle/>
                    <a:p>
                      <a:r>
                        <a:rPr sz="1900" b="0" i="0">
                          <a:solidFill>
                            <a:srgbClr val="20282C"/>
                          </a:solidFill>
                          <a:latin typeface="Calibri"/>
                        </a:rPr>
                        <a:t>4–9 ms</a:t>
                      </a:r>
                    </a:p>
                  </a:txBody>
                  <a:tcPr>
                    <a:solidFill>
                      <a:srgbClr val="EFF4F6"/>
                    </a:solidFill>
                  </a:tcPr>
                </a:tc>
                <a:tc>
                  <a:txBody>
                    <a:bodyPr/>
                    <a:lstStyle/>
                    <a:p>
                      <a:r>
                        <a:rPr sz="1900" b="0" i="0">
                          <a:solidFill>
                            <a:srgbClr val="20282C"/>
                          </a:solidFill>
                          <a:latin typeface="Calibri"/>
                        </a:rPr>
                        <a:t>stabil, fără cold-start</a:t>
                      </a:r>
                    </a:p>
                  </a:txBody>
                  <a:tcPr>
                    <a:solidFill>
                      <a:srgbClr val="EFF4F6"/>
                    </a:solidFill>
                  </a:tcPr>
                </a:tc>
              </a:tr>
              <a:tr h="685800">
                <a:tc>
                  <a:txBody>
                    <a:bodyPr/>
                    <a:lstStyle/>
                    <a:p>
                      <a:r>
                        <a:rPr sz="1900" b="1" i="0">
                          <a:solidFill>
                            <a:srgbClr val="124A63"/>
                          </a:solidFill>
                          <a:latin typeface="Calibri"/>
                        </a:rPr>
                        <a:t>R</a:t>
                      </a:r>
                    </a:p>
                  </a:txBody>
                  <a:tcPr>
                    <a:solidFill>
                      <a:srgbClr val="FFFFFF"/>
                    </a:solidFill>
                  </a:tcPr>
                </a:tc>
                <a:tc>
                  <a:txBody>
                    <a:bodyPr/>
                    <a:lstStyle/>
                    <a:p>
                      <a:r>
                        <a:rPr sz="1900" b="0" i="0">
                          <a:solidFill>
                            <a:srgbClr val="20282C"/>
                          </a:solidFill>
                          <a:latin typeface="Calibri"/>
                        </a:rPr>
                        <a:t>0,7–1,3 s</a:t>
                      </a:r>
                    </a:p>
                  </a:txBody>
                  <a:tcPr>
                    <a:solidFill>
                      <a:srgbClr val="FFFFFF"/>
                    </a:solidFill>
                  </a:tcPr>
                </a:tc>
                <a:tc>
                  <a:txBody>
                    <a:bodyPr/>
                    <a:lstStyle/>
                    <a:p>
                      <a:r>
                        <a:rPr sz="1900" b="0" i="0">
                          <a:solidFill>
                            <a:srgbClr val="20282C"/>
                          </a:solidFill>
                          <a:latin typeface="Calibri"/>
                        </a:rPr>
                        <a:t>inserții DB, nu solverul</a:t>
                      </a:r>
                    </a:p>
                  </a:txBody>
                  <a:tcPr>
                    <a:solidFill>
                      <a:srgbClr val="FFFFFF"/>
                    </a:solidFill>
                  </a:tcPr>
                </a:tc>
              </a:tr>
            </a:tbl>
          </a:graphicData>
        </a:graphic>
      </p:graphicFrame>
      <p:sp>
        <p:nvSpPr>
          <p:cNvPr id="7" name="TextBox 6"/>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Evaluare</a:t>
            </a:r>
          </a:p>
          <a:p>
            <a:r>
              <a:rPr sz="3000" b="1" i="0">
                <a:solidFill>
                  <a:srgbClr val="FFFFFF"/>
                </a:solidFill>
                <a:latin typeface="Calibri"/>
              </a:rPr>
              <a:t>Scalare wall-time cu orizontul</a:t>
            </a:r>
          </a:p>
        </p:txBody>
      </p:sp>
      <p:pic>
        <p:nvPicPr>
          <p:cNvPr id="5" name="Picture 4" descr="scaling_wall_time.png"/>
          <p:cNvPicPr>
            <a:picLocks noChangeAspect="1"/>
          </p:cNvPicPr>
          <p:nvPr/>
        </p:nvPicPr>
        <p:blipFill>
          <a:blip r:embed="rId2"/>
          <a:stretch>
            <a:fillRect/>
          </a:stretch>
        </p:blipFill>
        <p:spPr>
          <a:xfrm>
            <a:off x="320040" y="1332709"/>
            <a:ext cx="11548872" cy="4786941"/>
          </a:xfrm>
          <a:prstGeom prst="rect">
            <a:avLst/>
          </a:prstGeom>
        </p:spPr>
      </p:pic>
      <p:sp>
        <p:nvSpPr>
          <p:cNvPr id="6" name="TextBox 5"/>
          <p:cNvSpPr txBox="1"/>
          <p:nvPr/>
        </p:nvSpPr>
        <p:spPr>
          <a:xfrm>
            <a:off x="457200" y="6327648"/>
            <a:ext cx="10515600" cy="411480"/>
          </a:xfrm>
          <a:prstGeom prst="rect">
            <a:avLst/>
          </a:prstGeom>
          <a:noFill/>
        </p:spPr>
        <p:txBody>
          <a:bodyPr wrap="square" anchor="t" lIns="36576" rIns="36576" tIns="36576" bIns="36576">
            <a:spAutoFit/>
          </a:bodyPr>
          <a:lstStyle/>
          <a:p>
            <a:pPr algn="ctr"/>
            <a:r>
              <a:rPr sz="1400" b="0" i="1">
                <a:solidFill>
                  <a:srgbClr val="6B767C"/>
                </a:solidFill>
                <a:latin typeface="Calibri"/>
              </a:rPr>
              <a:t>Trei regimuri pe scară log-log · R dominat de inserțiile în DB</a:t>
            </a:r>
          </a:p>
        </p:txBody>
      </p:sp>
      <p:sp>
        <p:nvSpPr>
          <p:cNvPr id="7" name="TextBox 6"/>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Sistem colaborativ</a:t>
            </a:r>
          </a:p>
          <a:p>
            <a:r>
              <a:rPr sz="3000" b="1" i="0">
                <a:solidFill>
                  <a:srgbClr val="FFFFFF"/>
                </a:solidFill>
                <a:latin typeface="Calibri"/>
              </a:rPr>
              <a:t>Aplicația web</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2 interfețe Vue 3: cercetători + super-admin</a:t>
            </a:r>
          </a:p>
          <a:p>
            <a:pPr>
              <a:spcBef>
                <a:spcPts val="0"/>
              </a:spcBef>
              <a:spcAft>
                <a:spcPts val="1800"/>
              </a:spcAft>
            </a:pPr>
            <a:r>
              <a:rPr sz="2700" b="1" i="0">
                <a:solidFill>
                  <a:srgbClr val="1E88A8"/>
                </a:solidFill>
                <a:latin typeface="Calibri"/>
              </a:rPr>
              <a:t>▸  </a:t>
            </a:r>
            <a:r>
              <a:rPr sz="2700" b="0" i="0">
                <a:solidFill>
                  <a:srgbClr val="20282C"/>
                </a:solidFill>
                <a:latin typeface="Calibri"/>
              </a:rPr>
              <a:t>RBAC pe studii: 4 roluri + super-admin</a:t>
            </a:r>
          </a:p>
          <a:p>
            <a:pPr>
              <a:spcBef>
                <a:spcPts val="0"/>
              </a:spcBef>
              <a:spcAft>
                <a:spcPts val="1800"/>
              </a:spcAft>
            </a:pPr>
            <a:r>
              <a:rPr sz="2700" b="1" i="0">
                <a:solidFill>
                  <a:srgbClr val="1E88A8"/>
                </a:solidFill>
                <a:latin typeface="Calibri"/>
              </a:rPr>
              <a:t>▸  </a:t>
            </a:r>
            <a:r>
              <a:rPr sz="2700" b="0" i="0">
                <a:solidFill>
                  <a:srgbClr val="20282C"/>
                </a:solidFill>
                <a:latin typeface="Calibri"/>
              </a:rPr>
              <a:t>Flux asincron: studiu → dataset → model → rezultate</a:t>
            </a:r>
          </a:p>
          <a:p>
            <a:pPr>
              <a:spcBef>
                <a:spcPts val="0"/>
              </a:spcBef>
              <a:spcAft>
                <a:spcPts val="1800"/>
              </a:spcAft>
            </a:pPr>
            <a:r>
              <a:rPr sz="2700" b="1" i="0">
                <a:solidFill>
                  <a:srgbClr val="1E88A8"/>
                </a:solidFill>
                <a:latin typeface="Calibri"/>
              </a:rPr>
              <a:t>▸  </a:t>
            </a:r>
            <a:r>
              <a:rPr sz="2700" b="0" i="0">
                <a:solidFill>
                  <a:srgbClr val="20282C"/>
                </a:solidFill>
                <a:latin typeface="Calibri"/>
              </a:rPr>
              <a:t>Securitate: JWT · bcrypt · anti-IDOR · SQL parametrizat</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Infrastructură</a:t>
            </a:r>
          </a:p>
          <a:p>
            <a:r>
              <a:rPr sz="3000" b="1" i="0">
                <a:solidFill>
                  <a:srgbClr val="FFFFFF"/>
                </a:solidFill>
                <a:latin typeface="Calibri"/>
              </a:rPr>
              <a:t>Deployment pe Kubernetes</a:t>
            </a:r>
          </a:p>
        </p:txBody>
      </p:sp>
      <p:pic>
        <p:nvPicPr>
          <p:cNvPr id="5" name="Picture 4" descr="k8s_topology.png"/>
          <p:cNvPicPr>
            <a:picLocks noChangeAspect="1"/>
          </p:cNvPicPr>
          <p:nvPr/>
        </p:nvPicPr>
        <p:blipFill>
          <a:blip r:embed="rId2"/>
          <a:stretch>
            <a:fillRect/>
          </a:stretch>
        </p:blipFill>
        <p:spPr>
          <a:xfrm>
            <a:off x="2126970" y="1188720"/>
            <a:ext cx="7935012" cy="5074920"/>
          </a:xfrm>
          <a:prstGeom prst="rect">
            <a:avLst/>
          </a:prstGeom>
        </p:spPr>
      </p:pic>
      <p:sp>
        <p:nvSpPr>
          <p:cNvPr id="6" name="TextBox 5"/>
          <p:cNvSpPr txBox="1"/>
          <p:nvPr/>
        </p:nvSpPr>
        <p:spPr>
          <a:xfrm>
            <a:off x="457200" y="6327648"/>
            <a:ext cx="10515600" cy="411480"/>
          </a:xfrm>
          <a:prstGeom prst="rect">
            <a:avLst/>
          </a:prstGeom>
          <a:noFill/>
        </p:spPr>
        <p:txBody>
          <a:bodyPr wrap="square" anchor="t" lIns="36576" rIns="36576" tIns="36576" bIns="36576">
            <a:spAutoFit/>
          </a:bodyPr>
          <a:lstStyle/>
          <a:p>
            <a:pPr algn="ctr"/>
            <a:r>
              <a:rPr sz="1400" b="0" i="1">
                <a:solidFill>
                  <a:srgbClr val="6B767C"/>
                </a:solidFill>
                <a:latin typeface="Calibri"/>
              </a:rPr>
              <a:t>Cluster real kube-4kdhb · 3 control-plane + 3 worker · YugabyteDB RF = 3</a:t>
            </a:r>
          </a:p>
        </p:txBody>
      </p:sp>
      <p:sp>
        <p:nvSpPr>
          <p:cNvPr id="7" name="TextBox 6"/>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Sinteză</a:t>
            </a:r>
          </a:p>
          <a:p>
            <a:r>
              <a:rPr sz="3000" b="1" i="0">
                <a:solidFill>
                  <a:srgbClr val="FFFFFF"/>
                </a:solidFill>
                <a:latin typeface="Calibri"/>
              </a:rPr>
              <a:t>Concluzii</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800"/>
              </a:spcAft>
            </a:pPr>
            <a:r>
              <a:rPr sz="2700" b="1" i="0">
                <a:solidFill>
                  <a:srgbClr val="1E88A8"/>
                </a:solidFill>
                <a:latin typeface="Calibri"/>
              </a:rPr>
              <a:t>▸  </a:t>
            </a:r>
            <a:r>
              <a:rPr sz="2700" b="0" i="0">
                <a:solidFill>
                  <a:srgbClr val="20282C"/>
                </a:solidFill>
                <a:latin typeface="Calibri"/>
              </a:rPr>
              <a:t>Lanț complet: modelare → implementare → arhitectură</a:t>
            </a:r>
          </a:p>
          <a:p>
            <a:pPr>
              <a:spcBef>
                <a:spcPts val="0"/>
              </a:spcBef>
              <a:spcAft>
                <a:spcPts val="1800"/>
              </a:spcAft>
            </a:pPr>
            <a:r>
              <a:rPr sz="2700" b="1" i="0">
                <a:solidFill>
                  <a:srgbClr val="1E88A8"/>
                </a:solidFill>
                <a:latin typeface="Calibri"/>
              </a:rPr>
              <a:t>▸  </a:t>
            </a:r>
            <a:r>
              <a:rPr sz="2700" b="0" i="0">
                <a:solidFill>
                  <a:srgbClr val="20282C"/>
                </a:solidFill>
                <a:latin typeface="Calibri"/>
              </a:rPr>
              <a:t>Validat empiric: benchmark + calibrare pe date reale</a:t>
            </a:r>
          </a:p>
          <a:p>
            <a:pPr>
              <a:spcBef>
                <a:spcPts val="0"/>
              </a:spcBef>
              <a:spcAft>
                <a:spcPts val="1800"/>
              </a:spcAft>
            </a:pPr>
            <a:r>
              <a:rPr sz="2700" b="1" i="0">
                <a:solidFill>
                  <a:srgbClr val="1E88A8"/>
                </a:solidFill>
                <a:latin typeface="Calibri"/>
              </a:rPr>
              <a:t>▸  </a:t>
            </a:r>
            <a:r>
              <a:rPr sz="2700" b="0" i="0">
                <a:solidFill>
                  <a:srgbClr val="20282C"/>
                </a:solidFill>
                <a:latin typeface="Calibri"/>
              </a:rPr>
              <a:t>Componentă LSTM evaluată onest</a:t>
            </a:r>
          </a:p>
          <a:p>
            <a:pPr>
              <a:spcBef>
                <a:spcPts val="0"/>
              </a:spcBef>
              <a:spcAft>
                <a:spcPts val="1800"/>
              </a:spcAft>
            </a:pPr>
            <a:r>
              <a:rPr sz="2700" b="1" i="0">
                <a:solidFill>
                  <a:srgbClr val="1E88A8"/>
                </a:solidFill>
                <a:latin typeface="Calibri"/>
              </a:rPr>
              <a:t>▸  </a:t>
            </a:r>
            <a:r>
              <a:rPr sz="2700" b="0" i="0">
                <a:solidFill>
                  <a:srgbClr val="20282C"/>
                </a:solidFill>
                <a:latin typeface="Calibri"/>
              </a:rPr>
              <a:t>Deployat pe cluster Kubernetes real</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5720"/>
          </a:xfrm>
          <a:prstGeom prst="rect">
            <a:avLst/>
          </a:prstGeom>
          <a:solidFill>
            <a:srgbClr val="1E8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73152"/>
            <a:ext cx="11155680" cy="822960"/>
          </a:xfrm>
          <a:prstGeom prst="rect">
            <a:avLst/>
          </a:prstGeom>
          <a:noFill/>
        </p:spPr>
        <p:txBody>
          <a:bodyPr wrap="square" anchor="ctr" lIns="36576" rIns="36576" tIns="36576" bIns="36576">
            <a:spAutoFit/>
          </a:bodyPr>
          <a:lstStyle/>
          <a:p>
            <a:r>
              <a:rPr sz="1300" b="1" i="0">
                <a:solidFill>
                  <a:srgbClr val="BFDDE6"/>
                </a:solidFill>
                <a:latin typeface="Calibri"/>
              </a:rPr>
              <a:t>Aport personal</a:t>
            </a:r>
          </a:p>
          <a:p>
            <a:r>
              <a:rPr sz="3000" b="1" i="0">
                <a:solidFill>
                  <a:srgbClr val="FFFFFF"/>
                </a:solidFill>
                <a:latin typeface="Calibri"/>
              </a:rPr>
              <a:t>Contribuții originale</a:t>
            </a:r>
          </a:p>
        </p:txBody>
      </p:sp>
      <p:sp>
        <p:nvSpPr>
          <p:cNvPr id="5" name="TextBox 4"/>
          <p:cNvSpPr txBox="1"/>
          <p:nvPr/>
        </p:nvSpPr>
        <p:spPr>
          <a:xfrm>
            <a:off x="731520" y="1371600"/>
            <a:ext cx="10789920" cy="4754880"/>
          </a:xfrm>
          <a:prstGeom prst="rect">
            <a:avLst/>
          </a:prstGeom>
          <a:noFill/>
        </p:spPr>
        <p:txBody>
          <a:bodyPr wrap="square" anchor="ctr" lIns="36576" rIns="36576" tIns="36576" bIns="36576">
            <a:spAutoFit/>
          </a:bodyPr>
          <a:lstStyle/>
          <a:p>
            <a:pPr>
              <a:spcBef>
                <a:spcPts val="0"/>
              </a:spcBef>
              <a:spcAft>
                <a:spcPts val="1600"/>
              </a:spcAft>
            </a:pPr>
            <a:r>
              <a:rPr sz="2400" b="1" i="0">
                <a:solidFill>
                  <a:srgbClr val="1E88A8"/>
                </a:solidFill>
                <a:latin typeface="Calibri"/>
              </a:rPr>
              <a:t>▸  </a:t>
            </a:r>
            <a:r>
              <a:rPr sz="2400" b="0" i="0">
                <a:solidFill>
                  <a:srgbClr val="20282C"/>
                </a:solidFill>
                <a:latin typeface="Calibri"/>
              </a:rPr>
              <a:t>Benchmarking cross-limbaj al aceluiași model (R / Julia / Python)</a:t>
            </a:r>
          </a:p>
          <a:p>
            <a:pPr>
              <a:spcBef>
                <a:spcPts val="0"/>
              </a:spcBef>
              <a:spcAft>
                <a:spcPts val="1600"/>
              </a:spcAft>
            </a:pPr>
            <a:r>
              <a:rPr sz="2400" b="1" i="0">
                <a:solidFill>
                  <a:srgbClr val="1E88A8"/>
                </a:solidFill>
                <a:latin typeface="Calibri"/>
              </a:rPr>
              <a:t>▸  </a:t>
            </a:r>
            <a:r>
              <a:rPr sz="2400" b="0" i="0">
                <a:solidFill>
                  <a:srgbClr val="20282C"/>
                </a:solidFill>
                <a:latin typeface="Calibri"/>
              </a:rPr>
              <a:t>Metodologie unitară de colectare a metricilor (aceeași schemă DB)</a:t>
            </a:r>
          </a:p>
          <a:p>
            <a:pPr>
              <a:spcBef>
                <a:spcPts val="0"/>
              </a:spcBef>
              <a:spcAft>
                <a:spcPts val="1600"/>
              </a:spcAft>
            </a:pPr>
            <a:r>
              <a:rPr sz="2400" b="1" i="0">
                <a:solidFill>
                  <a:srgbClr val="1E88A8"/>
                </a:solidFill>
                <a:latin typeface="Calibri"/>
              </a:rPr>
              <a:t>▸  </a:t>
            </a:r>
            <a:r>
              <a:rPr sz="2400" b="0" i="0">
                <a:solidFill>
                  <a:srgbClr val="20282C"/>
                </a:solidFill>
                <a:latin typeface="Calibri"/>
              </a:rPr>
              <a:t>Separarea comparației epidemiologice de cea software + operatori de observație</a:t>
            </a:r>
          </a:p>
          <a:p>
            <a:pPr>
              <a:spcBef>
                <a:spcPts val="0"/>
              </a:spcBef>
              <a:spcAft>
                <a:spcPts val="1600"/>
              </a:spcAft>
            </a:pPr>
            <a:r>
              <a:rPr sz="2400" b="1" i="0">
                <a:solidFill>
                  <a:srgbClr val="1E88A8"/>
                </a:solidFill>
                <a:latin typeface="Calibri"/>
              </a:rPr>
              <a:t>▸  </a:t>
            </a:r>
            <a:r>
              <a:rPr sz="2400" b="0" i="0">
                <a:solidFill>
                  <a:srgbClr val="20282C"/>
                </a:solidFill>
                <a:latin typeface="Calibri"/>
              </a:rPr>
              <a:t>Platformă web colaborativă cu RBAC pe studii</a:t>
            </a:r>
          </a:p>
          <a:p>
            <a:pPr>
              <a:spcBef>
                <a:spcPts val="0"/>
              </a:spcBef>
              <a:spcAft>
                <a:spcPts val="1600"/>
              </a:spcAft>
            </a:pPr>
            <a:r>
              <a:rPr sz="2400" b="1" i="0">
                <a:solidFill>
                  <a:srgbClr val="1E88A8"/>
                </a:solidFill>
                <a:latin typeface="Calibri"/>
              </a:rPr>
              <a:t>▸  </a:t>
            </a:r>
            <a:r>
              <a:rPr sz="2400" b="0" i="0">
                <a:solidFill>
                  <a:srgbClr val="20282C"/>
                </a:solidFill>
                <a:latin typeface="Calibri"/>
              </a:rPr>
              <a:t>Sistem de plug-in-uri: script Python / imagine container → Deployment K8s automat</a:t>
            </a:r>
          </a:p>
        </p:txBody>
      </p:sp>
      <p:sp>
        <p:nvSpPr>
          <p:cNvPr id="6" name="TextBox 5"/>
          <p:cNvSpPr txBox="1"/>
          <p:nvPr/>
        </p:nvSpPr>
        <p:spPr>
          <a:xfrm>
            <a:off x="11247120" y="6437376"/>
            <a:ext cx="822960" cy="365760"/>
          </a:xfrm>
          <a:prstGeom prst="rect">
            <a:avLst/>
          </a:prstGeom>
          <a:noFill/>
        </p:spPr>
        <p:txBody>
          <a:bodyPr wrap="square" anchor="t" lIns="36576" rIns="36576" tIns="36576" bIns="36576">
            <a:spAutoFit/>
          </a:bodyPr>
          <a:lstStyle/>
          <a:p>
            <a:pPr algn="r"/>
            <a:r>
              <a:rPr sz="1200" b="1" i="0">
                <a:solidFill>
                  <a:srgbClr val="6B767C"/>
                </a:solidFill>
                <a:latin typeface="Calibri"/>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468880"/>
            <a:ext cx="12191695" cy="1920240"/>
          </a:xfrm>
          <a:prstGeom prst="rect">
            <a:avLst/>
          </a:prstGeom>
          <a:solidFill>
            <a:srgbClr val="12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468880"/>
            <a:ext cx="10972800" cy="1920240"/>
          </a:xfrm>
          <a:prstGeom prst="rect">
            <a:avLst/>
          </a:prstGeom>
          <a:noFill/>
        </p:spPr>
        <p:txBody>
          <a:bodyPr wrap="square" anchor="ctr" lIns="36576" rIns="36576" tIns="36576" bIns="36576">
            <a:spAutoFit/>
          </a:bodyPr>
          <a:lstStyle/>
          <a:p>
            <a:pPr algn="ctr"/>
            <a:r>
              <a:rPr sz="4000" b="1" i="0">
                <a:solidFill>
                  <a:srgbClr val="FFFFFF"/>
                </a:solidFill>
                <a:latin typeface="Calibri"/>
              </a:rPr>
              <a:t>Vă mulțumesc!   Întrebări?</a:t>
            </a:r>
          </a:p>
          <a:p>
            <a:pPr algn="ctr">
              <a:spcBef>
                <a:spcPts val="1000"/>
              </a:spcBef>
            </a:pPr>
            <a:r>
              <a:rPr sz="1600" b="0" i="0">
                <a:solidFill>
                  <a:srgbClr val="CFE6EE"/>
                </a:solidFill>
                <a:latin typeface="Calibri"/>
              </a:rPr>
              <a:t>Geană Tudor-Bogdan  ·  Coordonator: Prof. Radu Rădescu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